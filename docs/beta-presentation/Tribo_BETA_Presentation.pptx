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5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6403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We're Tribo. Since ALFA we went from a concept to a live, cloud-deployed full-stack platform — web, mobile, and a Java backend running on Google Cloud right now. In the next ten minutes I'll show you what's actually built and working.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 People run more when they run for a team. In Tribo you join a clan, every kilometre counts toward your clan's ranking, and you can join volunteer runs — clean-ups, community runs — that earn impact points. Since ALFA we tightened scope around three pillars: clans &amp; competition, a shared activity catalog, and a verified volunteer system. Everything I show next is implemented.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 Architecture is consolidated and deployed. A Java 21 JAX-RS API on App Engine Standard, backed by Firestore in Datastore mode, JWT signing secret in Secret Manager. A Flutter Android app and a React web app talk to the same REST API over JWT. Two App Engine services, both live in the cloud right now. This is the cloud-enabled full-stack platform the BETA asked for.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 IAM is fully working — checklist item (a). Five roles with real access control. The backend supports register, login, token refresh, and logout with token revocation. Backoffice staff can verify activity managers and suspend abusive accounts. It's hardened — bcrypt hashing, per-IP login rate-limiting, every endpoint gated by role.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(1m30) The core of the platform — checklist item (b). Activities move through a real state machine. A manager creates an activity → PENDING_APPROVAL, not public. Backoffice reviews and approves → it enters the public catalog. That's the catalog-and-advertisement flow with moderation. Users join — as participant or as staff for volunteer events once eligible — with capacity enforced on the backend. Volunteer events award impact points and carry a verification badge. I'll show this approval flow end-to-end in the demo.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Maps are integrated — checklist (c). Activities store coordinates, validated server-side. On the web, a discovery map where every published activity is a clickable pin, and managers place the location with a click-to-pick map. The mobile app has a map-based Find tab. Google Maps, real coordinates, both clients.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 Switch to the browser. It's live, this is the deployed URL. Landing → public landing page. Login as backoffice/sysadmin. Feed → social feed of runs and volunteer joins. Clan → leaderboard. Backoffice → here's the moment: a manager submitted this activity, it's pending; I approve it… and it's now published in the public catalog. End to end, live.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 Switch to the emulator. Same platform, native on Android. Branded splash and launcher icon. After login you land on the Feed, then Volunteer activities, a map-based Find, the Clan rankings, and your Profile with stats and achievements. Same backend as the web app, packaged as an installable APK.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 Engagement — checklist (f) — is where the why-come-back lives. Clans ranked four ways: average pace, total distance, weekly consistency, volunteer impact, with week-over-week movement. A social feed with kudos and comments. Volunteer events build a staff-eligibility ladder. Profiles surface computed achievements and a weekly distance goal. These are the adhesion hooks.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Monetization — checklist (g) — foundation built: a Partner role and partner-verified events, the hook for sponsored events and future premium clan features. We're honest that payment processing isn't built yet — it's on the roadmap. Highlights: the live approval workflow, a fully cloud-deployed stack, genuine web-and-mobile parity on one backend. Next up: GPS run-logging on mobile, payments, push notifications.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To wrap up: Tribo is a complete, live, full-stack platform today — IAM, an activity catalog with moderation, maps, gamification, on web and Android. Come to our LAB slot for the full hands-on demo.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6.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D1D"/>
        </a:solidFill>
        <a:effectLst/>
      </p:bgPr>
    </p:bg>
    <p:spTree>
      <p:nvGrpSpPr>
        <p:cNvPr id="1" name=""/>
        <p:cNvGrpSpPr/>
        <p:nvPr/>
      </p:nvGrpSpPr>
      <p:grpSpPr>
        <a:xfrm>
          <a:off x="0" y="0"/>
          <a:ext cx="0" cy="0"/>
          <a:chOff x="0" y="0"/>
          <a:chExt cx="0" cy="0"/>
        </a:xfrm>
      </p:grpSpPr>
      <p:sp>
        <p:nvSpPr>
          <p:cNvPr id="2" name="Shape 0"/>
          <p:cNvSpPr/>
          <p:nvPr/>
        </p:nvSpPr>
        <p:spPr>
          <a:xfrm>
            <a:off x="9692640" y="-1463040"/>
            <a:ext cx="3840480" cy="3840480"/>
          </a:xfrm>
          <a:prstGeom prst="ellipse">
            <a:avLst/>
          </a:prstGeom>
          <a:solidFill>
            <a:srgbClr val="2C5F2D"/>
          </a:solidFill>
          <a:ln/>
        </p:spPr>
        <p:txBody>
          <a:bodyPr/>
          <a:lstStyle/>
          <a:p>
            <a:endParaRPr lang="en-US"/>
          </a:p>
        </p:txBody>
      </p:sp>
      <p:sp>
        <p:nvSpPr>
          <p:cNvPr id="3" name="Shape 1"/>
          <p:cNvSpPr/>
          <p:nvPr/>
        </p:nvSpPr>
        <p:spPr>
          <a:xfrm>
            <a:off x="10698480" y="4206240"/>
            <a:ext cx="3108960" cy="3108960"/>
          </a:xfrm>
          <a:prstGeom prst="ellipse">
            <a:avLst/>
          </a:prstGeom>
          <a:solidFill>
            <a:srgbClr val="97BC62">
              <a:alpha val="30000"/>
            </a:srgbClr>
          </a:solidFill>
          <a:ln/>
        </p:spPr>
        <p:txBody>
          <a:bodyPr/>
          <a:lstStyle/>
          <a:p>
            <a:endParaRPr lang="en-US"/>
          </a:p>
        </p:txBody>
      </p:sp>
      <p:sp>
        <p:nvSpPr>
          <p:cNvPr id="4" name="Shape 2"/>
          <p:cNvSpPr/>
          <p:nvPr/>
        </p:nvSpPr>
        <p:spPr>
          <a:xfrm>
            <a:off x="822960" y="777240"/>
            <a:ext cx="914400" cy="914400"/>
          </a:xfrm>
          <a:prstGeom prst="ellipse">
            <a:avLst/>
          </a:prstGeom>
          <a:solidFill>
            <a:srgbClr val="FFFFFF"/>
          </a:solidFill>
          <a:ln>
            <a:noFill/>
          </a:ln>
        </p:spPr>
        <p:txBody>
          <a:bodyPr/>
          <a:lstStyle/>
          <a:p>
            <a:endParaRPr lang="en-US"/>
          </a:p>
        </p:txBody>
      </p:sp>
      <p:sp>
        <p:nvSpPr>
          <p:cNvPr id="6" name="Text 3"/>
          <p:cNvSpPr/>
          <p:nvPr/>
        </p:nvSpPr>
        <p:spPr>
          <a:xfrm>
            <a:off x="822960" y="1828800"/>
            <a:ext cx="8229600" cy="1280160"/>
          </a:xfrm>
          <a:prstGeom prst="rect">
            <a:avLst/>
          </a:prstGeom>
          <a:noFill/>
          <a:ln/>
        </p:spPr>
        <p:txBody>
          <a:bodyPr wrap="square" rtlCol="0" anchor="ctr"/>
          <a:lstStyle/>
          <a:p>
            <a:pPr marL="0" indent="0">
              <a:buNone/>
            </a:pPr>
            <a:r>
              <a:rPr lang="en-US" sz="8000" b="1" kern="0" spc="400" dirty="0">
                <a:solidFill>
                  <a:srgbClr val="FFFFFF"/>
                </a:solidFill>
                <a:latin typeface="Bookman Old Style" pitchFamily="34" charset="0"/>
                <a:ea typeface="Bookman Old Style" pitchFamily="34" charset="-122"/>
                <a:cs typeface="Bookman Old Style" pitchFamily="34" charset="-120"/>
              </a:rPr>
              <a:t>TRIBO</a:t>
            </a:r>
            <a:endParaRPr lang="en-US" sz="8000" dirty="0"/>
          </a:p>
        </p:txBody>
      </p:sp>
      <p:sp>
        <p:nvSpPr>
          <p:cNvPr id="7" name="Text 4"/>
          <p:cNvSpPr/>
          <p:nvPr/>
        </p:nvSpPr>
        <p:spPr>
          <a:xfrm>
            <a:off x="868680" y="3108960"/>
            <a:ext cx="9144000" cy="640080"/>
          </a:xfrm>
          <a:prstGeom prst="rect">
            <a:avLst/>
          </a:prstGeom>
          <a:noFill/>
          <a:ln/>
        </p:spPr>
        <p:txBody>
          <a:bodyPr wrap="square" rtlCol="0" anchor="ctr"/>
          <a:lstStyle/>
          <a:p>
            <a:pPr marL="0" indent="0">
              <a:buNone/>
            </a:pPr>
            <a:r>
              <a:rPr lang="en-US" sz="2400" i="1" dirty="0">
                <a:solidFill>
                  <a:srgbClr val="C9DCA3"/>
                </a:solidFill>
                <a:latin typeface="Calibri" pitchFamily="34" charset="0"/>
                <a:ea typeface="Calibri" pitchFamily="34" charset="-122"/>
                <a:cs typeface="Calibri" pitchFamily="34" charset="-120"/>
              </a:rPr>
              <a:t>Run together. Compete together. Make impact.</a:t>
            </a:r>
            <a:endParaRPr lang="en-US" sz="2400" dirty="0"/>
          </a:p>
        </p:txBody>
      </p:sp>
      <p:sp>
        <p:nvSpPr>
          <p:cNvPr id="8" name="Shape 5"/>
          <p:cNvSpPr/>
          <p:nvPr/>
        </p:nvSpPr>
        <p:spPr>
          <a:xfrm>
            <a:off x="868680" y="3977640"/>
            <a:ext cx="3200400" cy="502920"/>
          </a:xfrm>
          <a:prstGeom prst="roundRect">
            <a:avLst>
              <a:gd name="adj" fmla="val 49091"/>
            </a:avLst>
          </a:prstGeom>
          <a:solidFill>
            <a:srgbClr val="E8A33D"/>
          </a:solidFill>
          <a:ln/>
        </p:spPr>
        <p:txBody>
          <a:bodyPr/>
          <a:lstStyle/>
          <a:p>
            <a:endParaRPr lang="en-US"/>
          </a:p>
        </p:txBody>
      </p:sp>
      <p:sp>
        <p:nvSpPr>
          <p:cNvPr id="9" name="Text 6"/>
          <p:cNvSpPr/>
          <p:nvPr/>
        </p:nvSpPr>
        <p:spPr>
          <a:xfrm>
            <a:off x="868680" y="3977640"/>
            <a:ext cx="3200400" cy="502920"/>
          </a:xfrm>
          <a:prstGeom prst="rect">
            <a:avLst/>
          </a:prstGeom>
          <a:noFill/>
          <a:ln/>
        </p:spPr>
        <p:txBody>
          <a:bodyPr wrap="square" rtlCol="0" anchor="ctr"/>
          <a:lstStyle/>
          <a:p>
            <a:pPr marL="0" indent="0" algn="ctr">
              <a:buNone/>
            </a:pPr>
            <a:r>
              <a:rPr lang="en-US" sz="1200" b="1" kern="0" spc="100" dirty="0">
                <a:solidFill>
                  <a:srgbClr val="1C3D1D"/>
                </a:solidFill>
                <a:latin typeface="Calibri" pitchFamily="34" charset="0"/>
                <a:ea typeface="Calibri" pitchFamily="34" charset="-122"/>
                <a:cs typeface="Calibri" pitchFamily="34" charset="-120"/>
              </a:rPr>
              <a:t>BETA STATUS UPDATE · JUNE 2026</a:t>
            </a:r>
            <a:endParaRPr lang="en-US" sz="1200" dirty="0"/>
          </a:p>
        </p:txBody>
      </p:sp>
      <p:sp>
        <p:nvSpPr>
          <p:cNvPr id="10" name="Text 7"/>
          <p:cNvSpPr/>
          <p:nvPr/>
        </p:nvSpPr>
        <p:spPr>
          <a:xfrm>
            <a:off x="868680" y="5852160"/>
            <a:ext cx="10424160" cy="457200"/>
          </a:xfrm>
          <a:prstGeom prst="rect">
            <a:avLst/>
          </a:prstGeom>
          <a:noFill/>
          <a:ln/>
        </p:spPr>
        <p:txBody>
          <a:bodyPr wrap="square" rtlCol="0" anchor="ctr"/>
          <a:lstStyle/>
          <a:p>
            <a:pPr marL="0" indent="0">
              <a:buNone/>
            </a:pPr>
            <a:r>
              <a:rPr lang="en-US" sz="1400" dirty="0">
                <a:solidFill>
                  <a:srgbClr val="C9D6BC"/>
                </a:solidFill>
                <a:latin typeface="Calibri" pitchFamily="34" charset="0"/>
                <a:ea typeface="Calibri" pitchFamily="34" charset="-122"/>
                <a:cs typeface="Calibri" pitchFamily="34" charset="-120"/>
              </a:rPr>
              <a:t>André Câmara · Rafael Rodrigues · Ricardo Píneu · João Duarte · Martinho Pereira</a:t>
            </a:r>
            <a:endParaRPr lang="en-US" sz="1400" dirty="0"/>
          </a:p>
        </p:txBody>
      </p:sp>
      <p:pic>
        <p:nvPicPr>
          <p:cNvPr id="11" name="Picture 10" descr="TriboLogo_NoBackground.png"/>
          <p:cNvPicPr>
            <a:picLocks noChangeAspect="1"/>
          </p:cNvPicPr>
          <p:nvPr/>
        </p:nvPicPr>
        <p:blipFill>
          <a:blip r:embed="rId3"/>
          <a:stretch>
            <a:fillRect/>
          </a:stretch>
        </p:blipFill>
        <p:spPr>
          <a:xfrm>
            <a:off x="978408" y="905353"/>
            <a:ext cx="603504" cy="6581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0"/>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buNone/>
            </a:pPr>
            <a:r>
              <a:rPr lang="en-US" sz="3400" b="1" dirty="0">
                <a:solidFill>
                  <a:srgbClr val="2C5F2D"/>
                </a:solidFill>
                <a:latin typeface="Bookman Old Style" pitchFamily="34" charset="0"/>
                <a:ea typeface="Bookman Old Style" pitchFamily="34" charset="-122"/>
                <a:cs typeface="Bookman Old Style" pitchFamily="34" charset="-120"/>
              </a:rPr>
              <a:t>The idea, refined since ALFA</a:t>
            </a:r>
            <a:endParaRPr lang="en-US" sz="3400" dirty="0"/>
          </a:p>
        </p:txBody>
      </p:sp>
      <p:sp>
        <p:nvSpPr>
          <p:cNvPr id="3" name="Shape 1"/>
          <p:cNvSpPr/>
          <p:nvPr/>
        </p:nvSpPr>
        <p:spPr>
          <a:xfrm>
            <a:off x="640080" y="1371600"/>
            <a:ext cx="10881360" cy="1051560"/>
          </a:xfrm>
          <a:prstGeom prst="roundRect">
            <a:avLst>
              <a:gd name="adj" fmla="val 8696"/>
            </a:avLst>
          </a:prstGeom>
          <a:solidFill>
            <a:srgbClr val="1C3D1D"/>
          </a:solidFill>
          <a:ln/>
          <a:effectLst>
            <a:outerShdw blurRad="101600" dist="38100" dir="5400000" algn="bl" rotWithShape="0">
              <a:srgbClr val="000000">
                <a:alpha val="12000"/>
              </a:srgbClr>
            </a:outerShdw>
          </a:effectLst>
        </p:spPr>
        <p:txBody>
          <a:bodyPr/>
          <a:lstStyle/>
          <a:p>
            <a:endParaRPr lang="en-US"/>
          </a:p>
        </p:txBody>
      </p:sp>
      <p:sp>
        <p:nvSpPr>
          <p:cNvPr id="4" name="Text 2"/>
          <p:cNvSpPr/>
          <p:nvPr/>
        </p:nvSpPr>
        <p:spPr>
          <a:xfrm>
            <a:off x="1005840" y="1371600"/>
            <a:ext cx="10149840" cy="1051560"/>
          </a:xfrm>
          <a:prstGeom prst="rect">
            <a:avLst/>
          </a:prstGeom>
          <a:noFill/>
          <a:ln/>
        </p:spPr>
        <p:txBody>
          <a:bodyPr wrap="square" rtlCol="0" anchor="ctr"/>
          <a:lstStyle/>
          <a:p>
            <a:pPr marL="0" indent="0">
              <a:buNone/>
            </a:pPr>
            <a:r>
              <a:rPr lang="en-US" sz="1800" b="1" dirty="0">
                <a:solidFill>
                  <a:srgbClr val="E8A33D"/>
                </a:solidFill>
                <a:latin typeface="Calibri" pitchFamily="34" charset="0"/>
                <a:ea typeface="Calibri" pitchFamily="34" charset="-122"/>
                <a:cs typeface="Calibri" pitchFamily="34" charset="-120"/>
              </a:rPr>
              <a:t>The problem:  </a:t>
            </a:r>
            <a:r>
              <a:rPr lang="en-US" sz="1800" dirty="0">
                <a:solidFill>
                  <a:srgbClr val="FFFFFF"/>
                </a:solidFill>
                <a:latin typeface="Calibri" pitchFamily="34" charset="0"/>
                <a:ea typeface="Calibri" pitchFamily="34" charset="-122"/>
                <a:cs typeface="Calibri" pitchFamily="34" charset="-120"/>
              </a:rPr>
              <a:t>running is solo · cities need volunteers · both lack a reason to keep showing up.</a:t>
            </a:r>
            <a:endParaRPr lang="en-US" sz="1800" dirty="0"/>
          </a:p>
        </p:txBody>
      </p:sp>
      <p:sp>
        <p:nvSpPr>
          <p:cNvPr id="5" name="Text 3"/>
          <p:cNvSpPr/>
          <p:nvPr/>
        </p:nvSpPr>
        <p:spPr>
          <a:xfrm>
            <a:off x="640080" y="2697480"/>
            <a:ext cx="10881360" cy="731520"/>
          </a:xfrm>
          <a:prstGeom prst="rect">
            <a:avLst/>
          </a:prstGeom>
          <a:noFill/>
          <a:ln/>
        </p:spPr>
        <p:txBody>
          <a:bodyPr wrap="square" rtlCol="0" anchor="ctr"/>
          <a:lstStyle/>
          <a:p>
            <a:pPr marL="0" indent="0">
              <a:buNone/>
            </a:pPr>
            <a:r>
              <a:rPr lang="en-US" sz="1800" b="1" dirty="0">
                <a:solidFill>
                  <a:srgbClr val="2C5F2D"/>
                </a:solidFill>
                <a:latin typeface="Calibri" pitchFamily="34" charset="0"/>
                <a:ea typeface="Calibri" pitchFamily="34" charset="-122"/>
                <a:cs typeface="Calibri" pitchFamily="34" charset="-120"/>
              </a:rPr>
              <a:t>Tribo's answer:  </a:t>
            </a:r>
            <a:r>
              <a:rPr lang="en-US" sz="1800" dirty="0">
                <a:solidFill>
                  <a:srgbClr val="1B2A1B"/>
                </a:solidFill>
                <a:latin typeface="Calibri" pitchFamily="34" charset="0"/>
                <a:ea typeface="Calibri" pitchFamily="34" charset="-122"/>
                <a:cs typeface="Calibri" pitchFamily="34" charset="-120"/>
              </a:rPr>
              <a:t>clans turn running into a team sport, and volunteer “impact runs” turn training into community work.</a:t>
            </a:r>
            <a:endParaRPr lang="en-US" sz="1800" dirty="0"/>
          </a:p>
        </p:txBody>
      </p:sp>
      <p:sp>
        <p:nvSpPr>
          <p:cNvPr id="6" name="Shape 4"/>
          <p:cNvSpPr/>
          <p:nvPr/>
        </p:nvSpPr>
        <p:spPr>
          <a:xfrm>
            <a:off x="640080" y="3749040"/>
            <a:ext cx="3502152" cy="2331720"/>
          </a:xfrm>
          <a:prstGeom prst="roundRect">
            <a:avLst>
              <a:gd name="adj" fmla="val 3922"/>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7" name="Shape 5"/>
          <p:cNvSpPr/>
          <p:nvPr/>
        </p:nvSpPr>
        <p:spPr>
          <a:xfrm>
            <a:off x="960120" y="4069080"/>
            <a:ext cx="868680" cy="868680"/>
          </a:xfrm>
          <a:prstGeom prst="ellipse">
            <a:avLst/>
          </a:prstGeom>
          <a:solidFill>
            <a:srgbClr val="2C5F2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85977" y="4294937"/>
            <a:ext cx="416966" cy="416966"/>
          </a:xfrm>
          <a:prstGeom prst="rect">
            <a:avLst/>
          </a:prstGeom>
        </p:spPr>
      </p:pic>
      <p:sp>
        <p:nvSpPr>
          <p:cNvPr id="9" name="Text 6"/>
          <p:cNvSpPr/>
          <p:nvPr/>
        </p:nvSpPr>
        <p:spPr>
          <a:xfrm>
            <a:off x="960120" y="5074920"/>
            <a:ext cx="2862072" cy="45720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Clans &amp; ranked competition</a:t>
            </a:r>
            <a:endParaRPr lang="en-US" sz="1600" dirty="0"/>
          </a:p>
        </p:txBody>
      </p:sp>
      <p:sp>
        <p:nvSpPr>
          <p:cNvPr id="10" name="Text 7"/>
          <p:cNvSpPr/>
          <p:nvPr/>
        </p:nvSpPr>
        <p:spPr>
          <a:xfrm>
            <a:off x="960120" y="5532120"/>
            <a:ext cx="2862072" cy="502920"/>
          </a:xfrm>
          <a:prstGeom prst="rect">
            <a:avLst/>
          </a:prstGeom>
          <a:noFill/>
          <a:ln/>
        </p:spPr>
        <p:txBody>
          <a:bodyPr wrap="square" rtlCol="0" anchor="ctr"/>
          <a:lstStyle/>
          <a:p>
            <a:pPr marL="0" indent="0">
              <a:buNone/>
            </a:pPr>
            <a:r>
              <a:rPr lang="en-US" sz="1300" dirty="0">
                <a:solidFill>
                  <a:srgbClr val="5C6B57"/>
                </a:solidFill>
                <a:latin typeface="Calibri" pitchFamily="34" charset="0"/>
                <a:ea typeface="Calibri" pitchFamily="34" charset="-122"/>
                <a:cs typeface="Calibri" pitchFamily="34" charset="-120"/>
              </a:rPr>
              <a:t>Every kilometre counts toward your clan's ranking.</a:t>
            </a:r>
            <a:endParaRPr lang="en-US" sz="1300" dirty="0"/>
          </a:p>
        </p:txBody>
      </p:sp>
      <p:sp>
        <p:nvSpPr>
          <p:cNvPr id="11" name="Shape 8"/>
          <p:cNvSpPr/>
          <p:nvPr/>
        </p:nvSpPr>
        <p:spPr>
          <a:xfrm>
            <a:off x="4325112" y="3749040"/>
            <a:ext cx="3502152" cy="2331720"/>
          </a:xfrm>
          <a:prstGeom prst="roundRect">
            <a:avLst>
              <a:gd name="adj" fmla="val 3922"/>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2" name="Shape 9"/>
          <p:cNvSpPr/>
          <p:nvPr/>
        </p:nvSpPr>
        <p:spPr>
          <a:xfrm>
            <a:off x="4645152" y="4069080"/>
            <a:ext cx="868680" cy="868680"/>
          </a:xfrm>
          <a:prstGeom prst="ellipse">
            <a:avLst/>
          </a:prstGeom>
          <a:solidFill>
            <a:srgbClr val="2C5F2D"/>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871009" y="4294937"/>
            <a:ext cx="416966" cy="416966"/>
          </a:xfrm>
          <a:prstGeom prst="rect">
            <a:avLst/>
          </a:prstGeom>
        </p:spPr>
      </p:pic>
      <p:sp>
        <p:nvSpPr>
          <p:cNvPr id="14" name="Text 10"/>
          <p:cNvSpPr/>
          <p:nvPr/>
        </p:nvSpPr>
        <p:spPr>
          <a:xfrm>
            <a:off x="4645152" y="5074920"/>
            <a:ext cx="2862072" cy="45720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One shared activity catalog</a:t>
            </a:r>
            <a:endParaRPr lang="en-US" sz="1600" dirty="0"/>
          </a:p>
        </p:txBody>
      </p:sp>
      <p:sp>
        <p:nvSpPr>
          <p:cNvPr id="15" name="Text 11"/>
          <p:cNvSpPr/>
          <p:nvPr/>
        </p:nvSpPr>
        <p:spPr>
          <a:xfrm>
            <a:off x="4645152" y="5532120"/>
            <a:ext cx="2862072" cy="502920"/>
          </a:xfrm>
          <a:prstGeom prst="rect">
            <a:avLst/>
          </a:prstGeom>
          <a:noFill/>
          <a:ln/>
        </p:spPr>
        <p:txBody>
          <a:bodyPr wrap="square" rtlCol="0" anchor="ctr"/>
          <a:lstStyle/>
          <a:p>
            <a:pPr marL="0" indent="0">
              <a:buNone/>
            </a:pPr>
            <a:r>
              <a:rPr lang="en-US" sz="1300" dirty="0">
                <a:solidFill>
                  <a:srgbClr val="5C6B57"/>
                </a:solidFill>
                <a:latin typeface="Calibri" pitchFamily="34" charset="0"/>
                <a:ea typeface="Calibri" pitchFamily="34" charset="-122"/>
                <a:cs typeface="Calibri" pitchFamily="34" charset="-120"/>
              </a:rPr>
              <a:t>Sport, volunteering and community events, unified.</a:t>
            </a:r>
            <a:endParaRPr lang="en-US" sz="1300" dirty="0"/>
          </a:p>
        </p:txBody>
      </p:sp>
      <p:sp>
        <p:nvSpPr>
          <p:cNvPr id="16" name="Shape 12"/>
          <p:cNvSpPr/>
          <p:nvPr/>
        </p:nvSpPr>
        <p:spPr>
          <a:xfrm>
            <a:off x="8010144" y="3749040"/>
            <a:ext cx="3502152" cy="2331720"/>
          </a:xfrm>
          <a:prstGeom prst="roundRect">
            <a:avLst>
              <a:gd name="adj" fmla="val 3922"/>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7" name="Shape 13"/>
          <p:cNvSpPr/>
          <p:nvPr/>
        </p:nvSpPr>
        <p:spPr>
          <a:xfrm>
            <a:off x="8330184" y="4069080"/>
            <a:ext cx="868680" cy="868680"/>
          </a:xfrm>
          <a:prstGeom prst="ellipse">
            <a:avLst/>
          </a:prstGeom>
          <a:solidFill>
            <a:srgbClr val="2C5F2D"/>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56041" y="4294937"/>
            <a:ext cx="416966" cy="416966"/>
          </a:xfrm>
          <a:prstGeom prst="rect">
            <a:avLst/>
          </a:prstGeom>
        </p:spPr>
      </p:pic>
      <p:sp>
        <p:nvSpPr>
          <p:cNvPr id="19" name="Text 14"/>
          <p:cNvSpPr/>
          <p:nvPr/>
        </p:nvSpPr>
        <p:spPr>
          <a:xfrm>
            <a:off x="8330184" y="5074920"/>
            <a:ext cx="2862072" cy="45720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Verified volunteer system</a:t>
            </a:r>
            <a:endParaRPr lang="en-US" sz="1600" dirty="0"/>
          </a:p>
        </p:txBody>
      </p:sp>
      <p:sp>
        <p:nvSpPr>
          <p:cNvPr id="20" name="Text 15"/>
          <p:cNvSpPr/>
          <p:nvPr/>
        </p:nvSpPr>
        <p:spPr>
          <a:xfrm>
            <a:off x="8330184" y="5532120"/>
            <a:ext cx="2862072" cy="502920"/>
          </a:xfrm>
          <a:prstGeom prst="rect">
            <a:avLst/>
          </a:prstGeom>
          <a:noFill/>
          <a:ln/>
        </p:spPr>
        <p:txBody>
          <a:bodyPr wrap="square" rtlCol="0" anchor="ctr"/>
          <a:lstStyle/>
          <a:p>
            <a:pPr marL="0" indent="0">
              <a:buNone/>
            </a:pPr>
            <a:r>
              <a:rPr lang="en-US" sz="1300" dirty="0">
                <a:solidFill>
                  <a:srgbClr val="5C6B57"/>
                </a:solidFill>
                <a:latin typeface="Calibri" pitchFamily="34" charset="0"/>
                <a:ea typeface="Calibri" pitchFamily="34" charset="-122"/>
                <a:cs typeface="Calibri" pitchFamily="34" charset="-120"/>
              </a:rPr>
              <a:t>Impact runs with partner / peer verification.</a:t>
            </a:r>
            <a:endParaRPr lang="en-US" sz="1300" dirty="0"/>
          </a:p>
        </p:txBody>
      </p:sp>
      <p:sp>
        <p:nvSpPr>
          <p:cNvPr id="21" name="Text 16"/>
          <p:cNvSpPr/>
          <p:nvPr/>
        </p:nvSpPr>
        <p:spPr>
          <a:xfrm>
            <a:off x="640080" y="6263640"/>
            <a:ext cx="10881360" cy="365760"/>
          </a:xfrm>
          <a:prstGeom prst="rect">
            <a:avLst/>
          </a:prstGeom>
          <a:noFill/>
          <a:ln/>
        </p:spPr>
        <p:txBody>
          <a:bodyPr wrap="square" rtlCol="0" anchor="ctr"/>
          <a:lstStyle/>
          <a:p>
            <a:pPr marL="0" indent="0" algn="ctr">
              <a:buNone/>
            </a:pPr>
            <a:r>
              <a:rPr lang="en-US" sz="1300" i="1" dirty="0">
                <a:solidFill>
                  <a:srgbClr val="2C5F2D"/>
                </a:solidFill>
                <a:latin typeface="Calibri" pitchFamily="34" charset="0"/>
                <a:ea typeface="Calibri" pitchFamily="34" charset="-122"/>
                <a:cs typeface="Calibri" pitchFamily="34" charset="-120"/>
              </a:rPr>
              <a:t>Everything that follows is implemented — not a mockup.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3D1D"/>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731520"/>
          </a:xfrm>
          <a:prstGeom prst="rect">
            <a:avLst/>
          </a:prstGeom>
          <a:noFill/>
          <a:ln/>
        </p:spPr>
        <p:txBody>
          <a:bodyPr wrap="square" rtlCol="0" anchor="ctr"/>
          <a:lstStyle/>
          <a:p>
            <a:pPr marL="0" indent="0">
              <a:buNone/>
            </a:pPr>
            <a:r>
              <a:rPr lang="en-US" sz="3400" b="1" dirty="0">
                <a:solidFill>
                  <a:srgbClr val="FFFFFF"/>
                </a:solidFill>
                <a:latin typeface="Bookman Old Style" pitchFamily="34" charset="0"/>
                <a:ea typeface="Bookman Old Style" pitchFamily="34" charset="-122"/>
                <a:cs typeface="Bookman Old Style" pitchFamily="34" charset="-120"/>
              </a:rPr>
              <a:t>Architecture &amp; stack</a:t>
            </a:r>
            <a:endParaRPr lang="en-US" sz="3400" dirty="0"/>
          </a:p>
        </p:txBody>
      </p:sp>
      <p:sp>
        <p:nvSpPr>
          <p:cNvPr id="3" name="Text 1"/>
          <p:cNvSpPr/>
          <p:nvPr/>
        </p:nvSpPr>
        <p:spPr>
          <a:xfrm>
            <a:off x="640080" y="1097280"/>
            <a:ext cx="10058400" cy="457200"/>
          </a:xfrm>
          <a:prstGeom prst="rect">
            <a:avLst/>
          </a:prstGeom>
          <a:noFill/>
          <a:ln/>
        </p:spPr>
        <p:txBody>
          <a:bodyPr wrap="square" rtlCol="0" anchor="ctr"/>
          <a:lstStyle/>
          <a:p>
            <a:pPr marL="0" indent="0">
              <a:buNone/>
            </a:pPr>
            <a:r>
              <a:rPr lang="en-US" sz="1600" i="1" dirty="0">
                <a:solidFill>
                  <a:srgbClr val="C9DCA3"/>
                </a:solidFill>
                <a:latin typeface="Calibri" pitchFamily="34" charset="0"/>
                <a:ea typeface="Calibri" pitchFamily="34" charset="-122"/>
                <a:cs typeface="Calibri" pitchFamily="34" charset="-120"/>
              </a:rPr>
              <a:t>Cloud-enabled full-stack platform — deployed and live</a:t>
            </a:r>
            <a:endParaRPr lang="en-US" sz="1600" dirty="0"/>
          </a:p>
        </p:txBody>
      </p:sp>
      <p:sp>
        <p:nvSpPr>
          <p:cNvPr id="4" name="Shape 2"/>
          <p:cNvSpPr/>
          <p:nvPr/>
        </p:nvSpPr>
        <p:spPr>
          <a:xfrm>
            <a:off x="1280160" y="1828800"/>
            <a:ext cx="3749040" cy="1097280"/>
          </a:xfrm>
          <a:prstGeom prst="roundRect">
            <a:avLst>
              <a:gd name="adj" fmla="val 8333"/>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5" name="Shape 3"/>
          <p:cNvSpPr/>
          <p:nvPr/>
        </p:nvSpPr>
        <p:spPr>
          <a:xfrm>
            <a:off x="1536192" y="2103120"/>
            <a:ext cx="548640" cy="548640"/>
          </a:xfrm>
          <a:prstGeom prst="ellipse">
            <a:avLst/>
          </a:prstGeom>
          <a:solidFill>
            <a:srgbClr val="97BC6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678838" y="2245766"/>
            <a:ext cx="263347" cy="263347"/>
          </a:xfrm>
          <a:prstGeom prst="rect">
            <a:avLst/>
          </a:prstGeom>
        </p:spPr>
      </p:pic>
      <p:sp>
        <p:nvSpPr>
          <p:cNvPr id="7" name="Text 4"/>
          <p:cNvSpPr/>
          <p:nvPr/>
        </p:nvSpPr>
        <p:spPr>
          <a:xfrm>
            <a:off x="2240280" y="1993392"/>
            <a:ext cx="2651760" cy="4114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Flutter (Android)</a:t>
            </a:r>
            <a:endParaRPr lang="en-US" sz="1700" dirty="0"/>
          </a:p>
        </p:txBody>
      </p:sp>
      <p:sp>
        <p:nvSpPr>
          <p:cNvPr id="8" name="Text 5"/>
          <p:cNvSpPr/>
          <p:nvPr/>
        </p:nvSpPr>
        <p:spPr>
          <a:xfrm>
            <a:off x="2240280" y="2377440"/>
            <a:ext cx="2651760" cy="411480"/>
          </a:xfrm>
          <a:prstGeom prst="rect">
            <a:avLst/>
          </a:prstGeom>
          <a:noFill/>
          <a:ln/>
        </p:spPr>
        <p:txBody>
          <a:bodyPr wrap="square" rtlCol="0" anchor="ctr"/>
          <a:lstStyle/>
          <a:p>
            <a:pPr marL="0" indent="0">
              <a:buNone/>
            </a:pPr>
            <a:r>
              <a:rPr lang="en-US" sz="1200" dirty="0">
                <a:solidFill>
                  <a:srgbClr val="C9DCA3"/>
                </a:solidFill>
                <a:latin typeface="Calibri" pitchFamily="34" charset="0"/>
                <a:ea typeface="Calibri" pitchFamily="34" charset="-122"/>
                <a:cs typeface="Calibri" pitchFamily="34" charset="-120"/>
              </a:rPr>
              <a:t>Native mobile app</a:t>
            </a:r>
            <a:endParaRPr lang="en-US" sz="1200" dirty="0"/>
          </a:p>
        </p:txBody>
      </p:sp>
      <p:sp>
        <p:nvSpPr>
          <p:cNvPr id="9" name="Shape 6"/>
          <p:cNvSpPr/>
          <p:nvPr/>
        </p:nvSpPr>
        <p:spPr>
          <a:xfrm>
            <a:off x="7132320" y="1828800"/>
            <a:ext cx="3749040" cy="1097280"/>
          </a:xfrm>
          <a:prstGeom prst="roundRect">
            <a:avLst>
              <a:gd name="adj" fmla="val 8333"/>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0" name="Shape 7"/>
          <p:cNvSpPr/>
          <p:nvPr/>
        </p:nvSpPr>
        <p:spPr>
          <a:xfrm>
            <a:off x="7388352" y="2103120"/>
            <a:ext cx="548640" cy="548640"/>
          </a:xfrm>
          <a:prstGeom prst="ellipse">
            <a:avLst/>
          </a:prstGeom>
          <a:solidFill>
            <a:srgbClr val="97BC62"/>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530998" y="2245766"/>
            <a:ext cx="263347" cy="263347"/>
          </a:xfrm>
          <a:prstGeom prst="rect">
            <a:avLst/>
          </a:prstGeom>
        </p:spPr>
      </p:pic>
      <p:sp>
        <p:nvSpPr>
          <p:cNvPr id="12" name="Text 8"/>
          <p:cNvSpPr/>
          <p:nvPr/>
        </p:nvSpPr>
        <p:spPr>
          <a:xfrm>
            <a:off x="8092440" y="1993392"/>
            <a:ext cx="2651760" cy="4114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React + Vite (Web)</a:t>
            </a:r>
            <a:endParaRPr lang="en-US" sz="1700" dirty="0"/>
          </a:p>
        </p:txBody>
      </p:sp>
      <p:sp>
        <p:nvSpPr>
          <p:cNvPr id="13" name="Text 9"/>
          <p:cNvSpPr/>
          <p:nvPr/>
        </p:nvSpPr>
        <p:spPr>
          <a:xfrm>
            <a:off x="8092440" y="2377440"/>
            <a:ext cx="2651760" cy="411480"/>
          </a:xfrm>
          <a:prstGeom prst="rect">
            <a:avLst/>
          </a:prstGeom>
          <a:noFill/>
          <a:ln/>
        </p:spPr>
        <p:txBody>
          <a:bodyPr wrap="square" rtlCol="0" anchor="ctr"/>
          <a:lstStyle/>
          <a:p>
            <a:pPr marL="0" indent="0">
              <a:buNone/>
            </a:pPr>
            <a:r>
              <a:rPr lang="en-US" sz="1200" dirty="0">
                <a:solidFill>
                  <a:srgbClr val="C9DCA3"/>
                </a:solidFill>
                <a:latin typeface="Calibri" pitchFamily="34" charset="0"/>
                <a:ea typeface="Calibri" pitchFamily="34" charset="-122"/>
                <a:cs typeface="Calibri" pitchFamily="34" charset="-120"/>
              </a:rPr>
              <a:t>Browser web app</a:t>
            </a:r>
            <a:endParaRPr lang="en-US" sz="1200" dirty="0"/>
          </a:p>
        </p:txBody>
      </p:sp>
      <p:sp>
        <p:nvSpPr>
          <p:cNvPr id="14" name="Text 10"/>
          <p:cNvSpPr/>
          <p:nvPr/>
        </p:nvSpPr>
        <p:spPr>
          <a:xfrm>
            <a:off x="640080" y="3063240"/>
            <a:ext cx="10881360" cy="365760"/>
          </a:xfrm>
          <a:prstGeom prst="rect">
            <a:avLst/>
          </a:prstGeom>
          <a:noFill/>
          <a:ln/>
        </p:spPr>
        <p:txBody>
          <a:bodyPr wrap="square" rtlCol="0" anchor="ctr"/>
          <a:lstStyle/>
          <a:p>
            <a:pPr marL="0" indent="0" algn="ctr">
              <a:buNone/>
            </a:pPr>
            <a:r>
              <a:rPr lang="en-US" sz="1300" i="1" dirty="0">
                <a:solidFill>
                  <a:srgbClr val="97BC62"/>
                </a:solidFill>
                <a:latin typeface="Calibri" pitchFamily="34" charset="0"/>
                <a:ea typeface="Calibri" pitchFamily="34" charset="-122"/>
                <a:cs typeface="Calibri" pitchFamily="34" charset="-120"/>
              </a:rPr>
              <a:t>JWT / REST  ·  one shared backend contract</a:t>
            </a:r>
            <a:endParaRPr lang="en-US" sz="1300" dirty="0"/>
          </a:p>
        </p:txBody>
      </p:sp>
      <p:sp>
        <p:nvSpPr>
          <p:cNvPr id="15" name="Shape 11"/>
          <p:cNvSpPr/>
          <p:nvPr/>
        </p:nvSpPr>
        <p:spPr>
          <a:xfrm>
            <a:off x="2651760" y="3566160"/>
            <a:ext cx="6858000" cy="914400"/>
          </a:xfrm>
          <a:prstGeom prst="roundRect">
            <a:avLst>
              <a:gd name="adj" fmla="val 10000"/>
            </a:avLst>
          </a:prstGeom>
          <a:solidFill>
            <a:srgbClr val="97BC62"/>
          </a:solidFill>
          <a:ln/>
          <a:effectLst>
            <a:outerShdw blurRad="101600" dist="38100" dir="5400000" algn="bl" rotWithShape="0">
              <a:srgbClr val="000000">
                <a:alpha val="12000"/>
              </a:srgbClr>
            </a:outerShdw>
          </a:effectLst>
        </p:spPr>
        <p:txBody>
          <a:bodyPr/>
          <a:lstStyle/>
          <a:p>
            <a:endParaRPr lang="en-US"/>
          </a:p>
        </p:txBody>
      </p:sp>
      <p:sp>
        <p:nvSpPr>
          <p:cNvPr id="16" name="Shape 12"/>
          <p:cNvSpPr/>
          <p:nvPr/>
        </p:nvSpPr>
        <p:spPr>
          <a:xfrm>
            <a:off x="2926080" y="3749040"/>
            <a:ext cx="548640" cy="548640"/>
          </a:xfrm>
          <a:prstGeom prst="ellipse">
            <a:avLst/>
          </a:prstGeom>
          <a:solidFill>
            <a:srgbClr val="2C5F2D"/>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3068726" y="3891686"/>
            <a:ext cx="263347" cy="263347"/>
          </a:xfrm>
          <a:prstGeom prst="rect">
            <a:avLst/>
          </a:prstGeom>
        </p:spPr>
      </p:pic>
      <p:sp>
        <p:nvSpPr>
          <p:cNvPr id="18" name="Text 13"/>
          <p:cNvSpPr/>
          <p:nvPr/>
        </p:nvSpPr>
        <p:spPr>
          <a:xfrm>
            <a:off x="3657600" y="3566160"/>
            <a:ext cx="5669280" cy="914400"/>
          </a:xfrm>
          <a:prstGeom prst="rect">
            <a:avLst/>
          </a:prstGeom>
          <a:noFill/>
          <a:ln/>
        </p:spPr>
        <p:txBody>
          <a:bodyPr wrap="square" rtlCol="0" anchor="ctr"/>
          <a:lstStyle/>
          <a:p>
            <a:pPr marL="0" indent="0">
              <a:buNone/>
            </a:pPr>
            <a:r>
              <a:rPr lang="en-US" sz="1800" b="1" dirty="0">
                <a:solidFill>
                  <a:srgbClr val="1C3D1D"/>
                </a:solidFill>
                <a:latin typeface="Calibri" pitchFamily="34" charset="0"/>
                <a:ea typeface="Calibri" pitchFamily="34" charset="-122"/>
                <a:cs typeface="Calibri" pitchFamily="34" charset="-120"/>
              </a:rPr>
              <a:t>JAX-RS API</a:t>
            </a:r>
            <a:r>
              <a:rPr lang="en-US" sz="1300" dirty="0">
                <a:solidFill>
                  <a:srgbClr val="1C3D1D"/>
                </a:solidFill>
                <a:latin typeface="Calibri" pitchFamily="34" charset="0"/>
                <a:ea typeface="Calibri" pitchFamily="34" charset="-122"/>
                <a:cs typeface="Calibri" pitchFamily="34" charset="-120"/>
              </a:rPr>
              <a:t>   Java 21 · Jersey · App Engine Standard</a:t>
            </a:r>
            <a:endParaRPr lang="en-US" sz="1800" dirty="0"/>
          </a:p>
        </p:txBody>
      </p:sp>
      <p:sp>
        <p:nvSpPr>
          <p:cNvPr id="19" name="Shape 14"/>
          <p:cNvSpPr/>
          <p:nvPr/>
        </p:nvSpPr>
        <p:spPr>
          <a:xfrm>
            <a:off x="2651760" y="4709160"/>
            <a:ext cx="6858000" cy="914400"/>
          </a:xfrm>
          <a:prstGeom prst="roundRect">
            <a:avLst>
              <a:gd name="adj" fmla="val 10000"/>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20" name="Shape 15"/>
          <p:cNvSpPr/>
          <p:nvPr/>
        </p:nvSpPr>
        <p:spPr>
          <a:xfrm>
            <a:off x="2926080" y="4892040"/>
            <a:ext cx="548640" cy="548640"/>
          </a:xfrm>
          <a:prstGeom prst="ellipse">
            <a:avLst/>
          </a:prstGeom>
          <a:solidFill>
            <a:srgbClr val="97BC62"/>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3068726" y="5034686"/>
            <a:ext cx="263347" cy="263347"/>
          </a:xfrm>
          <a:prstGeom prst="rect">
            <a:avLst/>
          </a:prstGeom>
        </p:spPr>
      </p:pic>
      <p:sp>
        <p:nvSpPr>
          <p:cNvPr id="22" name="Text 16"/>
          <p:cNvSpPr/>
          <p:nvPr/>
        </p:nvSpPr>
        <p:spPr>
          <a:xfrm>
            <a:off x="3657600" y="4709160"/>
            <a:ext cx="5669280" cy="9144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Firestore (Datastore mode)</a:t>
            </a:r>
            <a:r>
              <a:rPr lang="en-US" sz="1400" dirty="0">
                <a:solidFill>
                  <a:srgbClr val="C9DCA3"/>
                </a:solidFill>
                <a:latin typeface="Calibri" pitchFamily="34" charset="0"/>
                <a:ea typeface="Calibri" pitchFamily="34" charset="-122"/>
                <a:cs typeface="Calibri" pitchFamily="34" charset="-120"/>
              </a:rPr>
              <a:t>   +  Secret Manager</a:t>
            </a:r>
            <a:endParaRPr lang="en-US" sz="1600" dirty="0"/>
          </a:p>
        </p:txBody>
      </p:sp>
      <p:sp>
        <p:nvSpPr>
          <p:cNvPr id="23" name="Text 17"/>
          <p:cNvSpPr/>
          <p:nvPr/>
        </p:nvSpPr>
        <p:spPr>
          <a:xfrm>
            <a:off x="640080" y="5897880"/>
            <a:ext cx="5486400" cy="731520"/>
          </a:xfrm>
          <a:prstGeom prst="rect">
            <a:avLst/>
          </a:prstGeom>
          <a:noFill/>
          <a:ln/>
        </p:spPr>
        <p:txBody>
          <a:bodyPr wrap="square"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2 App Engine services live</a:t>
            </a:r>
            <a:endParaRPr lang="en-US" sz="1400" dirty="0"/>
          </a:p>
          <a:p>
            <a:pPr marL="0" indent="0">
              <a:buNone/>
            </a:pPr>
            <a:r>
              <a:rPr lang="en-US" sz="1200" dirty="0">
                <a:solidFill>
                  <a:srgbClr val="C9D6BC"/>
                </a:solidFill>
                <a:latin typeface="Calibri" pitchFamily="34" charset="0"/>
                <a:ea typeface="Calibri" pitchFamily="34" charset="-122"/>
                <a:cs typeface="Calibri" pitchFamily="34" charset="-120"/>
              </a:rPr>
              <a:t>API (default) + Web · both in the cloud right now</a:t>
            </a:r>
            <a:endParaRPr lang="en-US" sz="1400" dirty="0"/>
          </a:p>
        </p:txBody>
      </p:sp>
      <p:sp>
        <p:nvSpPr>
          <p:cNvPr id="24" name="Text 18"/>
          <p:cNvSpPr/>
          <p:nvPr/>
        </p:nvSpPr>
        <p:spPr>
          <a:xfrm>
            <a:off x="6400800" y="5897880"/>
            <a:ext cx="5486400" cy="731520"/>
          </a:xfrm>
          <a:prstGeom prst="rect">
            <a:avLst/>
          </a:prstGeom>
          <a:noFill/>
          <a:ln/>
        </p:spPr>
        <p:txBody>
          <a:bodyPr wrap="square"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Auth</a:t>
            </a:r>
            <a:endParaRPr lang="en-US" sz="1400" dirty="0"/>
          </a:p>
          <a:p>
            <a:pPr marL="0" indent="0">
              <a:buNone/>
            </a:pPr>
            <a:r>
              <a:rPr lang="en-US" sz="1200" dirty="0">
                <a:solidFill>
                  <a:srgbClr val="C9D6BC"/>
                </a:solidFill>
                <a:latin typeface="Calibri" pitchFamily="34" charset="0"/>
                <a:ea typeface="Calibri" pitchFamily="34" charset="-122"/>
                <a:cs typeface="Calibri" pitchFamily="34" charset="-120"/>
              </a:rPr>
              <a:t>JWT access + refresh tokens · secrets in Secret Manager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0"/>
        </a:solidFill>
        <a:effectLst/>
      </p:bgPr>
    </p:bg>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ellipse">
            <a:avLst/>
          </a:prstGeom>
          <a:solidFill>
            <a:srgbClr val="2C5F2D"/>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854050" y="671170"/>
            <a:ext cx="395021" cy="395021"/>
          </a:xfrm>
          <a:prstGeom prst="rect">
            <a:avLst/>
          </a:prstGeom>
        </p:spPr>
      </p:pic>
      <p:sp>
        <p:nvSpPr>
          <p:cNvPr id="4" name="Text 1"/>
          <p:cNvSpPr/>
          <p:nvPr/>
        </p:nvSpPr>
        <p:spPr>
          <a:xfrm>
            <a:off x="1600200" y="457200"/>
            <a:ext cx="7315200" cy="777240"/>
          </a:xfrm>
          <a:prstGeom prst="rect">
            <a:avLst/>
          </a:prstGeom>
          <a:noFill/>
          <a:ln/>
        </p:spPr>
        <p:txBody>
          <a:bodyPr wrap="square" rtlCol="0" anchor="ctr"/>
          <a:lstStyle/>
          <a:p>
            <a:pPr marL="0" indent="0">
              <a:buNone/>
            </a:pPr>
            <a:r>
              <a:rPr lang="en-US" sz="3400" b="1" dirty="0">
                <a:solidFill>
                  <a:srgbClr val="2C5F2D"/>
                </a:solidFill>
                <a:latin typeface="Bookman Old Style" pitchFamily="34" charset="0"/>
                <a:ea typeface="Bookman Old Style" pitchFamily="34" charset="-122"/>
                <a:cs typeface="Bookman Old Style" pitchFamily="34" charset="-120"/>
              </a:rPr>
              <a:t>IAM / Authentication</a:t>
            </a:r>
            <a:endParaRPr lang="en-US" sz="3400" dirty="0"/>
          </a:p>
        </p:txBody>
      </p:sp>
      <p:sp>
        <p:nvSpPr>
          <p:cNvPr id="5" name="Shape 2"/>
          <p:cNvSpPr/>
          <p:nvPr/>
        </p:nvSpPr>
        <p:spPr>
          <a:xfrm>
            <a:off x="10332720" y="566928"/>
            <a:ext cx="1188720" cy="548640"/>
          </a:xfrm>
          <a:prstGeom prst="roundRect">
            <a:avLst>
              <a:gd name="adj" fmla="val 48333"/>
            </a:avLst>
          </a:prstGeom>
          <a:solidFill>
            <a:srgbClr val="E8A33D"/>
          </a:solidFill>
          <a:ln/>
        </p:spPr>
        <p:txBody>
          <a:bodyPr/>
          <a:lstStyle/>
          <a:p>
            <a:endParaRPr lang="en-US"/>
          </a:p>
        </p:txBody>
      </p:sp>
      <p:sp>
        <p:nvSpPr>
          <p:cNvPr id="6" name="Text 3"/>
          <p:cNvSpPr/>
          <p:nvPr/>
        </p:nvSpPr>
        <p:spPr>
          <a:xfrm>
            <a:off x="10332720" y="566928"/>
            <a:ext cx="1188720" cy="548640"/>
          </a:xfrm>
          <a:prstGeom prst="rect">
            <a:avLst/>
          </a:prstGeom>
          <a:noFill/>
          <a:ln/>
        </p:spPr>
        <p:txBody>
          <a:bodyPr wrap="square" rtlCol="0" anchor="ctr"/>
          <a:lstStyle/>
          <a:p>
            <a:pPr marL="0" indent="0" algn="ctr">
              <a:buNone/>
            </a:pPr>
            <a:r>
              <a:rPr lang="en-US" sz="1800" b="1" dirty="0">
                <a:solidFill>
                  <a:srgbClr val="1C3D1D"/>
                </a:solidFill>
                <a:latin typeface="Calibri" pitchFamily="34" charset="0"/>
                <a:ea typeface="Calibri" pitchFamily="34" charset="-122"/>
                <a:cs typeface="Calibri" pitchFamily="34" charset="-120"/>
              </a:rPr>
              <a:t>(a)</a:t>
            </a:r>
            <a:endParaRPr lang="en-US" sz="1800" dirty="0"/>
          </a:p>
        </p:txBody>
      </p:sp>
      <p:sp>
        <p:nvSpPr>
          <p:cNvPr id="7" name="Text 4"/>
          <p:cNvSpPr/>
          <p:nvPr/>
        </p:nvSpPr>
        <p:spPr>
          <a:xfrm>
            <a:off x="640080" y="1508760"/>
            <a:ext cx="10058400" cy="411480"/>
          </a:xfrm>
          <a:prstGeom prst="rect">
            <a:avLst/>
          </a:prstGeom>
          <a:noFill/>
          <a:ln/>
        </p:spPr>
        <p:txBody>
          <a:bodyPr wrap="square" rtlCol="0" anchor="ctr"/>
          <a:lstStyle/>
          <a:p>
            <a:pPr marL="0" indent="0">
              <a:buNone/>
            </a:pPr>
            <a:r>
              <a:rPr lang="en-US" sz="1600" b="1" dirty="0">
                <a:solidFill>
                  <a:srgbClr val="1B2A1B"/>
                </a:solidFill>
                <a:latin typeface="Calibri" pitchFamily="34" charset="0"/>
                <a:ea typeface="Calibri" pitchFamily="34" charset="-122"/>
                <a:cs typeface="Calibri" pitchFamily="34" charset="-120"/>
              </a:rPr>
              <a:t>5 roles with real access control</a:t>
            </a:r>
            <a:endParaRPr lang="en-US" sz="1600" dirty="0"/>
          </a:p>
        </p:txBody>
      </p:sp>
      <p:sp>
        <p:nvSpPr>
          <p:cNvPr id="8" name="Shape 5"/>
          <p:cNvSpPr/>
          <p:nvPr/>
        </p:nvSpPr>
        <p:spPr>
          <a:xfrm>
            <a:off x="640080" y="2011680"/>
            <a:ext cx="2103120" cy="640080"/>
          </a:xfrm>
          <a:prstGeom prst="roundRect">
            <a:avLst>
              <a:gd name="adj" fmla="val 14286"/>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9" name="Text 6"/>
          <p:cNvSpPr/>
          <p:nvPr/>
        </p:nvSpPr>
        <p:spPr>
          <a:xfrm>
            <a:off x="640080" y="2011680"/>
            <a:ext cx="210312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END_USER</a:t>
            </a:r>
            <a:endParaRPr lang="en-US" sz="1200" dirty="0"/>
          </a:p>
        </p:txBody>
      </p:sp>
      <p:sp>
        <p:nvSpPr>
          <p:cNvPr id="10" name="Shape 7"/>
          <p:cNvSpPr/>
          <p:nvPr/>
        </p:nvSpPr>
        <p:spPr>
          <a:xfrm>
            <a:off x="2880360" y="2011680"/>
            <a:ext cx="2103120" cy="640080"/>
          </a:xfrm>
          <a:prstGeom prst="roundRect">
            <a:avLst>
              <a:gd name="adj" fmla="val 14286"/>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1" name="Text 8"/>
          <p:cNvSpPr/>
          <p:nvPr/>
        </p:nvSpPr>
        <p:spPr>
          <a:xfrm>
            <a:off x="2880360" y="2011680"/>
            <a:ext cx="210312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ACTIVITY_MANAGER</a:t>
            </a:r>
            <a:endParaRPr lang="en-US" sz="1200" dirty="0"/>
          </a:p>
        </p:txBody>
      </p:sp>
      <p:sp>
        <p:nvSpPr>
          <p:cNvPr id="12" name="Shape 9"/>
          <p:cNvSpPr/>
          <p:nvPr/>
        </p:nvSpPr>
        <p:spPr>
          <a:xfrm>
            <a:off x="5120640" y="2011680"/>
            <a:ext cx="2103120" cy="640080"/>
          </a:xfrm>
          <a:prstGeom prst="roundRect">
            <a:avLst>
              <a:gd name="adj" fmla="val 14286"/>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3" name="Text 10"/>
          <p:cNvSpPr/>
          <p:nvPr/>
        </p:nvSpPr>
        <p:spPr>
          <a:xfrm>
            <a:off x="5120640" y="2011680"/>
            <a:ext cx="210312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PARTNER</a:t>
            </a:r>
            <a:endParaRPr lang="en-US" sz="1200" dirty="0"/>
          </a:p>
        </p:txBody>
      </p:sp>
      <p:sp>
        <p:nvSpPr>
          <p:cNvPr id="14" name="Shape 11"/>
          <p:cNvSpPr/>
          <p:nvPr/>
        </p:nvSpPr>
        <p:spPr>
          <a:xfrm>
            <a:off x="7360920" y="2011680"/>
            <a:ext cx="2103120" cy="640080"/>
          </a:xfrm>
          <a:prstGeom prst="roundRect">
            <a:avLst>
              <a:gd name="adj" fmla="val 14286"/>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5" name="Text 12"/>
          <p:cNvSpPr/>
          <p:nvPr/>
        </p:nvSpPr>
        <p:spPr>
          <a:xfrm>
            <a:off x="7360920" y="2011680"/>
            <a:ext cx="210312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BACKOFFICE</a:t>
            </a:r>
            <a:endParaRPr lang="en-US" sz="1200" dirty="0"/>
          </a:p>
        </p:txBody>
      </p:sp>
      <p:sp>
        <p:nvSpPr>
          <p:cNvPr id="16" name="Shape 13"/>
          <p:cNvSpPr/>
          <p:nvPr/>
        </p:nvSpPr>
        <p:spPr>
          <a:xfrm>
            <a:off x="9601200" y="2011680"/>
            <a:ext cx="2103120" cy="640080"/>
          </a:xfrm>
          <a:prstGeom prst="roundRect">
            <a:avLst>
              <a:gd name="adj" fmla="val 14286"/>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7" name="Text 14"/>
          <p:cNvSpPr/>
          <p:nvPr/>
        </p:nvSpPr>
        <p:spPr>
          <a:xfrm>
            <a:off x="9601200" y="2011680"/>
            <a:ext cx="210312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SYSADMIN</a:t>
            </a:r>
            <a:endParaRPr lang="en-US" sz="1200" dirty="0"/>
          </a:p>
        </p:txBody>
      </p:sp>
      <p:sp>
        <p:nvSpPr>
          <p:cNvPr id="18" name="Shape 15"/>
          <p:cNvSpPr/>
          <p:nvPr/>
        </p:nvSpPr>
        <p:spPr>
          <a:xfrm>
            <a:off x="640080" y="3017520"/>
            <a:ext cx="5349240" cy="2011680"/>
          </a:xfrm>
          <a:prstGeom prst="roundRect">
            <a:avLst>
              <a:gd name="adj" fmla="val 4545"/>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9" name="Text 16"/>
          <p:cNvSpPr/>
          <p:nvPr/>
        </p:nvSpPr>
        <p:spPr>
          <a:xfrm>
            <a:off x="960120" y="3246120"/>
            <a:ext cx="4572000" cy="365760"/>
          </a:xfrm>
          <a:prstGeom prst="rect">
            <a:avLst/>
          </a:prstGeom>
          <a:noFill/>
          <a:ln/>
        </p:spPr>
        <p:txBody>
          <a:bodyPr wrap="square" rtlCol="0" anchor="ctr"/>
          <a:lstStyle/>
          <a:p>
            <a:pPr marL="0" indent="0">
              <a:buNone/>
            </a:pPr>
            <a:r>
              <a:rPr lang="en-US" sz="1700" b="1" dirty="0">
                <a:solidFill>
                  <a:srgbClr val="2C5F2D"/>
                </a:solidFill>
                <a:latin typeface="Calibri" pitchFamily="34" charset="0"/>
                <a:ea typeface="Calibri" pitchFamily="34" charset="-122"/>
                <a:cs typeface="Calibri" pitchFamily="34" charset="-120"/>
              </a:rPr>
              <a:t>Backend operations</a:t>
            </a:r>
            <a:endParaRPr lang="en-US" sz="1700" dirty="0"/>
          </a:p>
        </p:txBody>
      </p:sp>
      <p:sp>
        <p:nvSpPr>
          <p:cNvPr id="20" name="Text 17"/>
          <p:cNvSpPr/>
          <p:nvPr/>
        </p:nvSpPr>
        <p:spPr>
          <a:xfrm>
            <a:off x="1051560" y="3703320"/>
            <a:ext cx="4754880" cy="1280160"/>
          </a:xfrm>
          <a:prstGeom prst="rect">
            <a:avLst/>
          </a:prstGeom>
          <a:noFill/>
          <a:ln/>
        </p:spPr>
        <p:txBody>
          <a:bodyPr wrap="square" rtlCol="0" anchor="ctr"/>
          <a:lstStyle/>
          <a:p>
            <a:pPr marL="342900" indent="-342900">
              <a:spcAft>
                <a:spcPts val="600"/>
              </a:spcAft>
              <a:buSzPct val="100000"/>
              <a:buChar char="•"/>
            </a:pPr>
            <a:r>
              <a:rPr lang="en-US" sz="1500" dirty="0">
                <a:solidFill>
                  <a:srgbClr val="1B2A1B"/>
                </a:solidFill>
                <a:latin typeface="Calibri" pitchFamily="34" charset="0"/>
                <a:ea typeface="Calibri" pitchFamily="34" charset="-122"/>
                <a:cs typeface="Calibri" pitchFamily="34" charset="-120"/>
              </a:rPr>
              <a:t>Register</a:t>
            </a:r>
            <a:endParaRPr lang="en-US" sz="1500" dirty="0"/>
          </a:p>
          <a:p>
            <a:pPr marL="342900" indent="-342900">
              <a:spcAft>
                <a:spcPts val="600"/>
              </a:spcAft>
              <a:buSzPct val="100000"/>
              <a:buChar char="•"/>
            </a:pPr>
            <a:r>
              <a:rPr lang="en-US" sz="1500" dirty="0">
                <a:solidFill>
                  <a:srgbClr val="1B2A1B"/>
                </a:solidFill>
                <a:latin typeface="Calibri" pitchFamily="34" charset="0"/>
                <a:ea typeface="Calibri" pitchFamily="34" charset="-122"/>
                <a:cs typeface="Calibri" pitchFamily="34" charset="-120"/>
              </a:rPr>
              <a:t>Login</a:t>
            </a:r>
            <a:endParaRPr lang="en-US" sz="1500" dirty="0"/>
          </a:p>
          <a:p>
            <a:pPr marL="342900" indent="-342900">
              <a:spcAft>
                <a:spcPts val="600"/>
              </a:spcAft>
              <a:buSzPct val="100000"/>
              <a:buChar char="•"/>
            </a:pPr>
            <a:r>
              <a:rPr lang="en-US" sz="1500" dirty="0">
                <a:solidFill>
                  <a:srgbClr val="1B2A1B"/>
                </a:solidFill>
                <a:latin typeface="Calibri" pitchFamily="34" charset="0"/>
                <a:ea typeface="Calibri" pitchFamily="34" charset="-122"/>
                <a:cs typeface="Calibri" pitchFamily="34" charset="-120"/>
              </a:rPr>
              <a:t>Token refresh</a:t>
            </a:r>
            <a:endParaRPr lang="en-US" sz="1500" dirty="0"/>
          </a:p>
          <a:p>
            <a:pPr marL="342900" indent="-342900">
              <a:spcAft>
                <a:spcPts val="600"/>
              </a:spcAft>
              <a:buSzPct val="100000"/>
              <a:buChar char="•"/>
            </a:pPr>
            <a:r>
              <a:rPr lang="en-US" sz="1500" dirty="0">
                <a:solidFill>
                  <a:srgbClr val="1B2A1B"/>
                </a:solidFill>
                <a:latin typeface="Calibri" pitchFamily="34" charset="0"/>
                <a:ea typeface="Calibri" pitchFamily="34" charset="-122"/>
                <a:cs typeface="Calibri" pitchFamily="34" charset="-120"/>
              </a:rPr>
              <a:t>Logout (token revocation)</a:t>
            </a:r>
            <a:endParaRPr lang="en-US" sz="1500" dirty="0"/>
          </a:p>
        </p:txBody>
      </p:sp>
      <p:sp>
        <p:nvSpPr>
          <p:cNvPr id="21" name="Shape 18"/>
          <p:cNvSpPr/>
          <p:nvPr/>
        </p:nvSpPr>
        <p:spPr>
          <a:xfrm>
            <a:off x="6172200" y="3017520"/>
            <a:ext cx="5349240" cy="2011680"/>
          </a:xfrm>
          <a:prstGeom prst="roundRect">
            <a:avLst>
              <a:gd name="adj" fmla="val 4545"/>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22" name="Text 19"/>
          <p:cNvSpPr/>
          <p:nvPr/>
        </p:nvSpPr>
        <p:spPr>
          <a:xfrm>
            <a:off x="6492240" y="3246120"/>
            <a:ext cx="4572000" cy="365760"/>
          </a:xfrm>
          <a:prstGeom prst="rect">
            <a:avLst/>
          </a:prstGeom>
          <a:noFill/>
          <a:ln/>
        </p:spPr>
        <p:txBody>
          <a:bodyPr wrap="square" rtlCol="0" anchor="ctr"/>
          <a:lstStyle/>
          <a:p>
            <a:pPr marL="0" indent="0">
              <a:buNone/>
            </a:pPr>
            <a:r>
              <a:rPr lang="en-US" sz="1700" b="1" dirty="0">
                <a:solidFill>
                  <a:srgbClr val="2C5F2D"/>
                </a:solidFill>
                <a:latin typeface="Calibri" pitchFamily="34" charset="0"/>
                <a:ea typeface="Calibri" pitchFamily="34" charset="-122"/>
                <a:cs typeface="Calibri" pitchFamily="34" charset="-120"/>
              </a:rPr>
              <a:t>Backoffice user management</a:t>
            </a:r>
            <a:endParaRPr lang="en-US" sz="1700" dirty="0"/>
          </a:p>
        </p:txBody>
      </p:sp>
      <p:sp>
        <p:nvSpPr>
          <p:cNvPr id="23" name="Text 20"/>
          <p:cNvSpPr/>
          <p:nvPr/>
        </p:nvSpPr>
        <p:spPr>
          <a:xfrm>
            <a:off x="6583680" y="3703320"/>
            <a:ext cx="4754880" cy="1280160"/>
          </a:xfrm>
          <a:prstGeom prst="rect">
            <a:avLst/>
          </a:prstGeom>
          <a:noFill/>
          <a:ln/>
        </p:spPr>
        <p:txBody>
          <a:bodyPr wrap="square" rtlCol="0" anchor="ctr"/>
          <a:lstStyle/>
          <a:p>
            <a:pPr marL="342900" indent="-342900">
              <a:spcAft>
                <a:spcPts val="600"/>
              </a:spcAft>
              <a:buSzPct val="100000"/>
              <a:buChar char="•"/>
            </a:pPr>
            <a:r>
              <a:rPr lang="en-US" sz="1500" dirty="0">
                <a:solidFill>
                  <a:srgbClr val="1B2A1B"/>
                </a:solidFill>
                <a:latin typeface="Calibri" pitchFamily="34" charset="0"/>
                <a:ea typeface="Calibri" pitchFamily="34" charset="-122"/>
                <a:cs typeface="Calibri" pitchFamily="34" charset="-120"/>
              </a:rPr>
              <a:t>Verify managers &amp; partners</a:t>
            </a:r>
            <a:endParaRPr lang="en-US" sz="1500" dirty="0"/>
          </a:p>
          <a:p>
            <a:pPr marL="342900" indent="-342900">
              <a:spcAft>
                <a:spcPts val="600"/>
              </a:spcAft>
              <a:buSzPct val="100000"/>
              <a:buChar char="•"/>
            </a:pPr>
            <a:r>
              <a:rPr lang="en-US" sz="1500" dirty="0">
                <a:solidFill>
                  <a:srgbClr val="1B2A1B"/>
                </a:solidFill>
                <a:latin typeface="Calibri" pitchFamily="34" charset="0"/>
                <a:ea typeface="Calibri" pitchFamily="34" charset="-122"/>
                <a:cs typeface="Calibri" pitchFamily="34" charset="-120"/>
              </a:rPr>
              <a:t>Suspend / unsuspend accounts</a:t>
            </a:r>
            <a:endParaRPr lang="en-US" sz="1500" dirty="0"/>
          </a:p>
          <a:p>
            <a:pPr marL="342900" indent="-342900">
              <a:spcAft>
                <a:spcPts val="600"/>
              </a:spcAft>
              <a:buSzPct val="100000"/>
              <a:buChar char="•"/>
            </a:pPr>
            <a:r>
              <a:rPr lang="en-US" sz="1500" dirty="0">
                <a:solidFill>
                  <a:srgbClr val="1B2A1B"/>
                </a:solidFill>
                <a:latin typeface="Calibri" pitchFamily="34" charset="0"/>
                <a:ea typeface="Calibri" pitchFamily="34" charset="-122"/>
                <a:cs typeface="Calibri" pitchFamily="34" charset="-120"/>
              </a:rPr>
              <a:t>Role-gated, monitored access</a:t>
            </a:r>
            <a:endParaRPr lang="en-US" sz="1500" dirty="0"/>
          </a:p>
        </p:txBody>
      </p:sp>
      <p:sp>
        <p:nvSpPr>
          <p:cNvPr id="24" name="Shape 21"/>
          <p:cNvSpPr/>
          <p:nvPr/>
        </p:nvSpPr>
        <p:spPr>
          <a:xfrm>
            <a:off x="640080" y="5257800"/>
            <a:ext cx="10881360" cy="960120"/>
          </a:xfrm>
          <a:prstGeom prst="roundRect">
            <a:avLst>
              <a:gd name="adj" fmla="val 9524"/>
            </a:avLst>
          </a:prstGeom>
          <a:solidFill>
            <a:srgbClr val="1C3D1D"/>
          </a:solidFill>
          <a:ln/>
        </p:spPr>
        <p:txBody>
          <a:bodyPr/>
          <a:lstStyle/>
          <a:p>
            <a:endParaRPr lang="en-US"/>
          </a:p>
        </p:txBody>
      </p:sp>
      <p:sp>
        <p:nvSpPr>
          <p:cNvPr id="25" name="Shape 22"/>
          <p:cNvSpPr/>
          <p:nvPr/>
        </p:nvSpPr>
        <p:spPr>
          <a:xfrm>
            <a:off x="914400" y="5486400"/>
            <a:ext cx="502920" cy="502920"/>
          </a:xfrm>
          <a:prstGeom prst="ellipse">
            <a:avLst/>
          </a:prstGeom>
          <a:solidFill>
            <a:srgbClr val="E8A33D"/>
          </a:solidFill>
          <a:ln/>
        </p:spPr>
        <p:txBody>
          <a:bodyPr/>
          <a:lstStyle/>
          <a:p>
            <a:endParaRPr lang="en-US"/>
          </a:p>
        </p:txBody>
      </p:sp>
      <p:pic>
        <p:nvPicPr>
          <p:cNvPr id="26" name="Image 1" descr="preencoded.png"/>
          <p:cNvPicPr>
            <a:picLocks noChangeAspect="1"/>
          </p:cNvPicPr>
          <p:nvPr/>
        </p:nvPicPr>
        <p:blipFill>
          <a:blip r:embed="rId4"/>
          <a:stretch>
            <a:fillRect/>
          </a:stretch>
        </p:blipFill>
        <p:spPr>
          <a:xfrm>
            <a:off x="1045159" y="5617159"/>
            <a:ext cx="241402" cy="241402"/>
          </a:xfrm>
          <a:prstGeom prst="rect">
            <a:avLst/>
          </a:prstGeom>
        </p:spPr>
      </p:pic>
      <p:sp>
        <p:nvSpPr>
          <p:cNvPr id="27" name="Text 23"/>
          <p:cNvSpPr/>
          <p:nvPr/>
        </p:nvSpPr>
        <p:spPr>
          <a:xfrm>
            <a:off x="1600200" y="5257800"/>
            <a:ext cx="9784080" cy="960120"/>
          </a:xfrm>
          <a:prstGeom prst="rect">
            <a:avLst/>
          </a:prstGeom>
          <a:noFill/>
          <a:ln/>
        </p:spPr>
        <p:txBody>
          <a:bodyPr wrap="square"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Hardened:  </a:t>
            </a:r>
            <a:r>
              <a:rPr lang="en-US" sz="1600" dirty="0">
                <a:solidFill>
                  <a:srgbClr val="FFFFFF"/>
                </a:solidFill>
                <a:latin typeface="Calibri" pitchFamily="34" charset="0"/>
                <a:ea typeface="Calibri" pitchFamily="34" charset="-122"/>
                <a:cs typeface="Calibri" pitchFamily="34" charset="-120"/>
              </a:rPr>
              <a:t>bcrypt password hashing  ·  per-IP login rate-limiting  ·  every endpoint role-gated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0"/>
        </a:solidFill>
        <a:effectLst/>
      </p:bgPr>
    </p:bg>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ellipse">
            <a:avLst/>
          </a:prstGeom>
          <a:solidFill>
            <a:srgbClr val="2C5F2D"/>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854050" y="671170"/>
            <a:ext cx="395021" cy="395021"/>
          </a:xfrm>
          <a:prstGeom prst="rect">
            <a:avLst/>
          </a:prstGeom>
        </p:spPr>
      </p:pic>
      <p:sp>
        <p:nvSpPr>
          <p:cNvPr id="4" name="Text 1"/>
          <p:cNvSpPr/>
          <p:nvPr/>
        </p:nvSpPr>
        <p:spPr>
          <a:xfrm>
            <a:off x="1600200" y="457200"/>
            <a:ext cx="8229600" cy="777240"/>
          </a:xfrm>
          <a:prstGeom prst="rect">
            <a:avLst/>
          </a:prstGeom>
          <a:noFill/>
          <a:ln/>
        </p:spPr>
        <p:txBody>
          <a:bodyPr wrap="square" rtlCol="0" anchor="ctr"/>
          <a:lstStyle/>
          <a:p>
            <a:pPr marL="0" indent="0">
              <a:buNone/>
            </a:pPr>
            <a:r>
              <a:rPr lang="en-US" sz="3200" b="1" dirty="0">
                <a:solidFill>
                  <a:srgbClr val="2C5F2D"/>
                </a:solidFill>
                <a:latin typeface="Bookman Old Style" pitchFamily="34" charset="0"/>
                <a:ea typeface="Bookman Old Style" pitchFamily="34" charset="-122"/>
                <a:cs typeface="Bookman Old Style" pitchFamily="34" charset="-120"/>
              </a:rPr>
              <a:t>Activity &amp; event management</a:t>
            </a:r>
            <a:endParaRPr lang="en-US" sz="3200" dirty="0"/>
          </a:p>
        </p:txBody>
      </p:sp>
      <p:sp>
        <p:nvSpPr>
          <p:cNvPr id="5" name="Shape 2"/>
          <p:cNvSpPr/>
          <p:nvPr/>
        </p:nvSpPr>
        <p:spPr>
          <a:xfrm>
            <a:off x="10332720" y="566928"/>
            <a:ext cx="1188720" cy="548640"/>
          </a:xfrm>
          <a:prstGeom prst="roundRect">
            <a:avLst>
              <a:gd name="adj" fmla="val 48333"/>
            </a:avLst>
          </a:prstGeom>
          <a:solidFill>
            <a:srgbClr val="E8A33D"/>
          </a:solidFill>
          <a:ln/>
        </p:spPr>
        <p:txBody>
          <a:bodyPr/>
          <a:lstStyle/>
          <a:p>
            <a:endParaRPr lang="en-US"/>
          </a:p>
        </p:txBody>
      </p:sp>
      <p:sp>
        <p:nvSpPr>
          <p:cNvPr id="6" name="Text 3"/>
          <p:cNvSpPr/>
          <p:nvPr/>
        </p:nvSpPr>
        <p:spPr>
          <a:xfrm>
            <a:off x="10332720" y="566928"/>
            <a:ext cx="1188720" cy="548640"/>
          </a:xfrm>
          <a:prstGeom prst="rect">
            <a:avLst/>
          </a:prstGeom>
          <a:noFill/>
          <a:ln/>
        </p:spPr>
        <p:txBody>
          <a:bodyPr wrap="square" rtlCol="0" anchor="ctr"/>
          <a:lstStyle/>
          <a:p>
            <a:pPr marL="0" indent="0" algn="ctr">
              <a:buNone/>
            </a:pPr>
            <a:r>
              <a:rPr lang="en-US" sz="1800" b="1" dirty="0">
                <a:solidFill>
                  <a:srgbClr val="1C3D1D"/>
                </a:solidFill>
                <a:latin typeface="Calibri" pitchFamily="34" charset="0"/>
                <a:ea typeface="Calibri" pitchFamily="34" charset="-122"/>
                <a:cs typeface="Calibri" pitchFamily="34" charset="-120"/>
              </a:rPr>
              <a:t>(b)</a:t>
            </a:r>
            <a:endParaRPr lang="en-US" sz="1800" dirty="0"/>
          </a:p>
        </p:txBody>
      </p:sp>
      <p:sp>
        <p:nvSpPr>
          <p:cNvPr id="7" name="Text 4"/>
          <p:cNvSpPr/>
          <p:nvPr/>
        </p:nvSpPr>
        <p:spPr>
          <a:xfrm>
            <a:off x="640080" y="1417320"/>
            <a:ext cx="10058400" cy="365760"/>
          </a:xfrm>
          <a:prstGeom prst="rect">
            <a:avLst/>
          </a:prstGeom>
          <a:noFill/>
          <a:ln/>
        </p:spPr>
        <p:txBody>
          <a:bodyPr wrap="square" rtlCol="0" anchor="ctr"/>
          <a:lstStyle/>
          <a:p>
            <a:pPr marL="0" indent="0">
              <a:buNone/>
            </a:pPr>
            <a:r>
              <a:rPr lang="en-US" sz="1500" b="1" dirty="0">
                <a:solidFill>
                  <a:srgbClr val="1B2A1B"/>
                </a:solidFill>
                <a:latin typeface="Calibri" pitchFamily="34" charset="0"/>
                <a:ea typeface="Calibri" pitchFamily="34" charset="-122"/>
                <a:cs typeface="Calibri" pitchFamily="34" charset="-120"/>
              </a:rPr>
              <a:t>Lifecycle — a real state machine</a:t>
            </a:r>
            <a:endParaRPr lang="en-US" sz="1500" dirty="0"/>
          </a:p>
        </p:txBody>
      </p:sp>
      <p:sp>
        <p:nvSpPr>
          <p:cNvPr id="8" name="Shape 5"/>
          <p:cNvSpPr/>
          <p:nvPr/>
        </p:nvSpPr>
        <p:spPr>
          <a:xfrm>
            <a:off x="640080" y="1874520"/>
            <a:ext cx="2514600" cy="594360"/>
          </a:xfrm>
          <a:prstGeom prst="roundRect">
            <a:avLst>
              <a:gd name="adj" fmla="val 15385"/>
            </a:avLst>
          </a:prstGeom>
          <a:solidFill>
            <a:srgbClr val="5C6B57"/>
          </a:solidFill>
          <a:ln/>
          <a:effectLst>
            <a:outerShdw blurRad="101600" dist="38100" dir="5400000" algn="bl" rotWithShape="0">
              <a:srgbClr val="000000">
                <a:alpha val="12000"/>
              </a:srgbClr>
            </a:outerShdw>
          </a:effectLst>
        </p:spPr>
        <p:txBody>
          <a:bodyPr/>
          <a:lstStyle/>
          <a:p>
            <a:endParaRPr lang="en-US"/>
          </a:p>
        </p:txBody>
      </p:sp>
      <p:sp>
        <p:nvSpPr>
          <p:cNvPr id="9" name="Text 6"/>
          <p:cNvSpPr/>
          <p:nvPr/>
        </p:nvSpPr>
        <p:spPr>
          <a:xfrm>
            <a:off x="640080" y="1874520"/>
            <a:ext cx="251460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DRAFT</a:t>
            </a:r>
            <a:endParaRPr lang="en-US" sz="1200" dirty="0"/>
          </a:p>
        </p:txBody>
      </p:sp>
      <p:sp>
        <p:nvSpPr>
          <p:cNvPr id="10" name="Text 7"/>
          <p:cNvSpPr/>
          <p:nvPr/>
        </p:nvSpPr>
        <p:spPr>
          <a:xfrm>
            <a:off x="3136392" y="1874520"/>
            <a:ext cx="356616" cy="594360"/>
          </a:xfrm>
          <a:prstGeom prst="rect">
            <a:avLst/>
          </a:prstGeom>
          <a:noFill/>
          <a:ln/>
        </p:spPr>
        <p:txBody>
          <a:bodyPr wrap="square" rtlCol="0" anchor="ctr"/>
          <a:lstStyle/>
          <a:p>
            <a:pPr marL="0" indent="0" algn="ctr">
              <a:buNone/>
            </a:pPr>
            <a:r>
              <a:rPr lang="en-US" sz="2000" b="1" dirty="0">
                <a:solidFill>
                  <a:srgbClr val="2C5F2D"/>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3474720" y="1874520"/>
            <a:ext cx="2514600" cy="594360"/>
          </a:xfrm>
          <a:prstGeom prst="roundRect">
            <a:avLst>
              <a:gd name="adj" fmla="val 15385"/>
            </a:avLst>
          </a:prstGeom>
          <a:solidFill>
            <a:srgbClr val="E8A33D"/>
          </a:solidFill>
          <a:ln/>
          <a:effectLst>
            <a:outerShdw blurRad="101600" dist="38100" dir="5400000" algn="bl" rotWithShape="0">
              <a:srgbClr val="000000">
                <a:alpha val="12000"/>
              </a:srgbClr>
            </a:outerShdw>
          </a:effectLst>
        </p:spPr>
        <p:txBody>
          <a:bodyPr/>
          <a:lstStyle/>
          <a:p>
            <a:endParaRPr lang="en-US"/>
          </a:p>
        </p:txBody>
      </p:sp>
      <p:sp>
        <p:nvSpPr>
          <p:cNvPr id="12" name="Text 9"/>
          <p:cNvSpPr/>
          <p:nvPr/>
        </p:nvSpPr>
        <p:spPr>
          <a:xfrm>
            <a:off x="3474720" y="1874520"/>
            <a:ext cx="251460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PENDING_APPROVAL</a:t>
            </a:r>
            <a:endParaRPr lang="en-US" sz="1200" dirty="0"/>
          </a:p>
        </p:txBody>
      </p:sp>
      <p:sp>
        <p:nvSpPr>
          <p:cNvPr id="13" name="Text 10"/>
          <p:cNvSpPr/>
          <p:nvPr/>
        </p:nvSpPr>
        <p:spPr>
          <a:xfrm>
            <a:off x="5971032" y="1874520"/>
            <a:ext cx="356616" cy="594360"/>
          </a:xfrm>
          <a:prstGeom prst="rect">
            <a:avLst/>
          </a:prstGeom>
          <a:noFill/>
          <a:ln/>
        </p:spPr>
        <p:txBody>
          <a:bodyPr wrap="square" rtlCol="0" anchor="ctr"/>
          <a:lstStyle/>
          <a:p>
            <a:pPr marL="0" indent="0" algn="ctr">
              <a:buNone/>
            </a:pPr>
            <a:r>
              <a:rPr lang="en-US" sz="2000" b="1" dirty="0">
                <a:solidFill>
                  <a:srgbClr val="2C5F2D"/>
                </a:solidFill>
                <a:latin typeface="Calibri" pitchFamily="34" charset="0"/>
                <a:ea typeface="Calibri" pitchFamily="34" charset="-122"/>
                <a:cs typeface="Calibri" pitchFamily="34" charset="-120"/>
              </a:rPr>
              <a:t>→</a:t>
            </a:r>
            <a:endParaRPr lang="en-US" sz="2000" dirty="0"/>
          </a:p>
        </p:txBody>
      </p:sp>
      <p:sp>
        <p:nvSpPr>
          <p:cNvPr id="14" name="Shape 11"/>
          <p:cNvSpPr/>
          <p:nvPr/>
        </p:nvSpPr>
        <p:spPr>
          <a:xfrm>
            <a:off x="6309360" y="1874520"/>
            <a:ext cx="2514600" cy="594360"/>
          </a:xfrm>
          <a:prstGeom prst="roundRect">
            <a:avLst>
              <a:gd name="adj" fmla="val 15385"/>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5" name="Text 12"/>
          <p:cNvSpPr/>
          <p:nvPr/>
        </p:nvSpPr>
        <p:spPr>
          <a:xfrm>
            <a:off x="6309360" y="1874520"/>
            <a:ext cx="251460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PUBLISHED</a:t>
            </a:r>
            <a:endParaRPr lang="en-US" sz="1200" dirty="0"/>
          </a:p>
        </p:txBody>
      </p:sp>
      <p:sp>
        <p:nvSpPr>
          <p:cNvPr id="16" name="Text 13"/>
          <p:cNvSpPr/>
          <p:nvPr/>
        </p:nvSpPr>
        <p:spPr>
          <a:xfrm>
            <a:off x="8805672" y="1874520"/>
            <a:ext cx="356616" cy="594360"/>
          </a:xfrm>
          <a:prstGeom prst="rect">
            <a:avLst/>
          </a:prstGeom>
          <a:noFill/>
          <a:ln/>
        </p:spPr>
        <p:txBody>
          <a:bodyPr wrap="square" rtlCol="0" anchor="ctr"/>
          <a:lstStyle/>
          <a:p>
            <a:pPr marL="0" indent="0" algn="ctr">
              <a:buNone/>
            </a:pPr>
            <a:r>
              <a:rPr lang="en-US" sz="2000" b="1" dirty="0">
                <a:solidFill>
                  <a:srgbClr val="2C5F2D"/>
                </a:solidFill>
                <a:latin typeface="Calibri" pitchFamily="34" charset="0"/>
                <a:ea typeface="Calibri" pitchFamily="34" charset="-122"/>
                <a:cs typeface="Calibri" pitchFamily="34" charset="-120"/>
              </a:rPr>
              <a:t>→</a:t>
            </a:r>
            <a:endParaRPr lang="en-US" sz="2000" dirty="0"/>
          </a:p>
        </p:txBody>
      </p:sp>
      <p:sp>
        <p:nvSpPr>
          <p:cNvPr id="17" name="Shape 14"/>
          <p:cNvSpPr/>
          <p:nvPr/>
        </p:nvSpPr>
        <p:spPr>
          <a:xfrm>
            <a:off x="9144000" y="1874520"/>
            <a:ext cx="2514600" cy="594360"/>
          </a:xfrm>
          <a:prstGeom prst="roundRect">
            <a:avLst>
              <a:gd name="adj" fmla="val 15385"/>
            </a:avLst>
          </a:prstGeom>
          <a:solidFill>
            <a:srgbClr val="9A4A3A"/>
          </a:solidFill>
          <a:ln/>
          <a:effectLst>
            <a:outerShdw blurRad="101600" dist="38100" dir="5400000" algn="bl" rotWithShape="0">
              <a:srgbClr val="000000">
                <a:alpha val="12000"/>
              </a:srgbClr>
            </a:outerShdw>
          </a:effectLst>
        </p:spPr>
        <p:txBody>
          <a:bodyPr/>
          <a:lstStyle/>
          <a:p>
            <a:endParaRPr lang="en-US"/>
          </a:p>
        </p:txBody>
      </p:sp>
      <p:sp>
        <p:nvSpPr>
          <p:cNvPr id="18" name="Text 15"/>
          <p:cNvSpPr/>
          <p:nvPr/>
        </p:nvSpPr>
        <p:spPr>
          <a:xfrm>
            <a:off x="9144000" y="1874520"/>
            <a:ext cx="251460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REJECTED / CANCELLED</a:t>
            </a:r>
            <a:endParaRPr lang="en-US" sz="1200" dirty="0"/>
          </a:p>
        </p:txBody>
      </p:sp>
      <p:sp>
        <p:nvSpPr>
          <p:cNvPr id="19" name="Shape 16"/>
          <p:cNvSpPr/>
          <p:nvPr/>
        </p:nvSpPr>
        <p:spPr>
          <a:xfrm>
            <a:off x="640080" y="2788920"/>
            <a:ext cx="3502152" cy="3154680"/>
          </a:xfrm>
          <a:prstGeom prst="roundRect">
            <a:avLst>
              <a:gd name="adj" fmla="val 2899"/>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20" name="Shape 17"/>
          <p:cNvSpPr/>
          <p:nvPr/>
        </p:nvSpPr>
        <p:spPr>
          <a:xfrm>
            <a:off x="960120" y="3108960"/>
            <a:ext cx="777240" cy="777240"/>
          </a:xfrm>
          <a:prstGeom prst="ellipse">
            <a:avLst/>
          </a:prstGeom>
          <a:solidFill>
            <a:srgbClr val="2C5F2D"/>
          </a:solidFill>
          <a:ln/>
        </p:spPr>
        <p:txBody>
          <a:bodyPr/>
          <a:lstStyle/>
          <a:p>
            <a:endParaRPr lang="en-US"/>
          </a:p>
        </p:txBody>
      </p:sp>
      <p:pic>
        <p:nvPicPr>
          <p:cNvPr id="21" name="Image 1" descr="preencoded.png"/>
          <p:cNvPicPr>
            <a:picLocks noChangeAspect="1"/>
          </p:cNvPicPr>
          <p:nvPr/>
        </p:nvPicPr>
        <p:blipFill>
          <a:blip r:embed="rId4"/>
          <a:stretch>
            <a:fillRect/>
          </a:stretch>
        </p:blipFill>
        <p:spPr>
          <a:xfrm>
            <a:off x="1162202" y="3311042"/>
            <a:ext cx="373075" cy="373075"/>
          </a:xfrm>
          <a:prstGeom prst="rect">
            <a:avLst/>
          </a:prstGeom>
        </p:spPr>
      </p:pic>
      <p:sp>
        <p:nvSpPr>
          <p:cNvPr id="22" name="Text 18"/>
          <p:cNvSpPr/>
          <p:nvPr/>
        </p:nvSpPr>
        <p:spPr>
          <a:xfrm>
            <a:off x="960120" y="4023360"/>
            <a:ext cx="2862072" cy="685800"/>
          </a:xfrm>
          <a:prstGeom prst="rect">
            <a:avLst/>
          </a:prstGeom>
          <a:noFill/>
          <a:ln/>
        </p:spPr>
        <p:txBody>
          <a:bodyPr wrap="square" rtlCol="0" anchor="ctr"/>
          <a:lstStyle/>
          <a:p>
            <a:pPr marL="0" indent="0">
              <a:buNone/>
            </a:pPr>
            <a:r>
              <a:rPr lang="en-US" sz="1700" b="1" dirty="0">
                <a:solidFill>
                  <a:srgbClr val="2C5F2D"/>
                </a:solidFill>
                <a:latin typeface="Calibri" pitchFamily="34" charset="0"/>
                <a:ea typeface="Calibri" pitchFamily="34" charset="-122"/>
                <a:cs typeface="Calibri" pitchFamily="34" charset="-120"/>
              </a:rPr>
              <a:t>Approval workflow</a:t>
            </a:r>
            <a:endParaRPr lang="en-US" sz="1700" dirty="0"/>
          </a:p>
        </p:txBody>
      </p:sp>
      <p:sp>
        <p:nvSpPr>
          <p:cNvPr id="23" name="Text 19"/>
          <p:cNvSpPr/>
          <p:nvPr/>
        </p:nvSpPr>
        <p:spPr>
          <a:xfrm>
            <a:off x="960120" y="4663440"/>
            <a:ext cx="2862072" cy="1188720"/>
          </a:xfrm>
          <a:prstGeom prst="rect">
            <a:avLst/>
          </a:prstGeom>
          <a:noFill/>
          <a:ln/>
        </p:spPr>
        <p:txBody>
          <a:bodyPr wrap="square" rtlCol="0" anchor="ctr"/>
          <a:lstStyle/>
          <a:p>
            <a:pPr marL="0" indent="0">
              <a:buNone/>
            </a:pPr>
            <a:r>
              <a:rPr lang="en-US" sz="1350" dirty="0">
                <a:solidFill>
                  <a:srgbClr val="5C6B57"/>
                </a:solidFill>
                <a:latin typeface="Calibri" pitchFamily="34" charset="0"/>
                <a:ea typeface="Calibri" pitchFamily="34" charset="-122"/>
                <a:cs typeface="Calibri" pitchFamily="34" charset="-120"/>
              </a:rPr>
              <a:t>Manager / partner creates → backoffice approves → enters public catalog. Moderation built in.</a:t>
            </a:r>
            <a:endParaRPr lang="en-US" sz="1350" dirty="0"/>
          </a:p>
        </p:txBody>
      </p:sp>
      <p:sp>
        <p:nvSpPr>
          <p:cNvPr id="24" name="Shape 20"/>
          <p:cNvSpPr/>
          <p:nvPr/>
        </p:nvSpPr>
        <p:spPr>
          <a:xfrm>
            <a:off x="4325112" y="2788920"/>
            <a:ext cx="3502152" cy="3154680"/>
          </a:xfrm>
          <a:prstGeom prst="roundRect">
            <a:avLst>
              <a:gd name="adj" fmla="val 2899"/>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25" name="Shape 21"/>
          <p:cNvSpPr/>
          <p:nvPr/>
        </p:nvSpPr>
        <p:spPr>
          <a:xfrm>
            <a:off x="4645152" y="3108960"/>
            <a:ext cx="777240" cy="777240"/>
          </a:xfrm>
          <a:prstGeom prst="ellipse">
            <a:avLst/>
          </a:prstGeom>
          <a:solidFill>
            <a:srgbClr val="2C5F2D"/>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4847234" y="3311042"/>
            <a:ext cx="373075" cy="373075"/>
          </a:xfrm>
          <a:prstGeom prst="rect">
            <a:avLst/>
          </a:prstGeom>
        </p:spPr>
      </p:pic>
      <p:sp>
        <p:nvSpPr>
          <p:cNvPr id="27" name="Text 22"/>
          <p:cNvSpPr/>
          <p:nvPr/>
        </p:nvSpPr>
        <p:spPr>
          <a:xfrm>
            <a:off x="4645152" y="4023360"/>
            <a:ext cx="2862072" cy="685800"/>
          </a:xfrm>
          <a:prstGeom prst="rect">
            <a:avLst/>
          </a:prstGeom>
          <a:noFill/>
          <a:ln/>
        </p:spPr>
        <p:txBody>
          <a:bodyPr wrap="square" rtlCol="0" anchor="ctr"/>
          <a:lstStyle/>
          <a:p>
            <a:pPr marL="0" indent="0">
              <a:buNone/>
            </a:pPr>
            <a:r>
              <a:rPr lang="en-US" sz="1700" b="1" dirty="0">
                <a:solidFill>
                  <a:srgbClr val="2C5F2D"/>
                </a:solidFill>
                <a:latin typeface="Calibri" pitchFamily="34" charset="0"/>
                <a:ea typeface="Calibri" pitchFamily="34" charset="-122"/>
                <a:cs typeface="Calibri" pitchFamily="34" charset="-120"/>
              </a:rPr>
              <a:t>Discovery</a:t>
            </a:r>
            <a:endParaRPr lang="en-US" sz="1700" dirty="0"/>
          </a:p>
        </p:txBody>
      </p:sp>
      <p:sp>
        <p:nvSpPr>
          <p:cNvPr id="28" name="Text 23"/>
          <p:cNvSpPr/>
          <p:nvPr/>
        </p:nvSpPr>
        <p:spPr>
          <a:xfrm>
            <a:off x="4645152" y="4663440"/>
            <a:ext cx="2862072" cy="1188720"/>
          </a:xfrm>
          <a:prstGeom prst="rect">
            <a:avLst/>
          </a:prstGeom>
          <a:noFill/>
          <a:ln/>
        </p:spPr>
        <p:txBody>
          <a:bodyPr wrap="square" rtlCol="0" anchor="ctr"/>
          <a:lstStyle/>
          <a:p>
            <a:pPr marL="0" indent="0">
              <a:buNone/>
            </a:pPr>
            <a:r>
              <a:rPr lang="en-US" sz="1350" dirty="0">
                <a:solidFill>
                  <a:srgbClr val="5C6B57"/>
                </a:solidFill>
                <a:latin typeface="Calibri" pitchFamily="34" charset="0"/>
                <a:ea typeface="Calibri" pitchFamily="34" charset="-122"/>
                <a:cs typeface="Calibri" pitchFamily="34" charset="-120"/>
              </a:rPr>
              <a:t>Published activities listed, filterable and paginated for browsing.</a:t>
            </a:r>
            <a:endParaRPr lang="en-US" sz="1350" dirty="0"/>
          </a:p>
        </p:txBody>
      </p:sp>
      <p:sp>
        <p:nvSpPr>
          <p:cNvPr id="29" name="Shape 24"/>
          <p:cNvSpPr/>
          <p:nvPr/>
        </p:nvSpPr>
        <p:spPr>
          <a:xfrm>
            <a:off x="8010144" y="2788920"/>
            <a:ext cx="3502152" cy="3154680"/>
          </a:xfrm>
          <a:prstGeom prst="roundRect">
            <a:avLst>
              <a:gd name="adj" fmla="val 2899"/>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30" name="Shape 25"/>
          <p:cNvSpPr/>
          <p:nvPr/>
        </p:nvSpPr>
        <p:spPr>
          <a:xfrm>
            <a:off x="8330184" y="3108960"/>
            <a:ext cx="777240" cy="777240"/>
          </a:xfrm>
          <a:prstGeom prst="ellipse">
            <a:avLst/>
          </a:prstGeom>
          <a:solidFill>
            <a:srgbClr val="2C5F2D"/>
          </a:solidFill>
          <a:ln/>
        </p:spPr>
        <p:txBody>
          <a:bodyPr/>
          <a:lstStyle/>
          <a:p>
            <a:endParaRPr lang="en-US"/>
          </a:p>
        </p:txBody>
      </p:sp>
      <p:pic>
        <p:nvPicPr>
          <p:cNvPr id="31" name="Image 3" descr="preencoded.png"/>
          <p:cNvPicPr>
            <a:picLocks noChangeAspect="1"/>
          </p:cNvPicPr>
          <p:nvPr/>
        </p:nvPicPr>
        <p:blipFill>
          <a:blip r:embed="rId6"/>
          <a:stretch>
            <a:fillRect/>
          </a:stretch>
        </p:blipFill>
        <p:spPr>
          <a:xfrm>
            <a:off x="8532266" y="3311042"/>
            <a:ext cx="373075" cy="373075"/>
          </a:xfrm>
          <a:prstGeom prst="rect">
            <a:avLst/>
          </a:prstGeom>
        </p:spPr>
      </p:pic>
      <p:sp>
        <p:nvSpPr>
          <p:cNvPr id="32" name="Text 26"/>
          <p:cNvSpPr/>
          <p:nvPr/>
        </p:nvSpPr>
        <p:spPr>
          <a:xfrm>
            <a:off x="8330184" y="4023360"/>
            <a:ext cx="2862072" cy="685800"/>
          </a:xfrm>
          <a:prstGeom prst="rect">
            <a:avLst/>
          </a:prstGeom>
          <a:noFill/>
          <a:ln/>
        </p:spPr>
        <p:txBody>
          <a:bodyPr wrap="square" rtlCol="0" anchor="ctr"/>
          <a:lstStyle/>
          <a:p>
            <a:pPr marL="0" indent="0">
              <a:buNone/>
            </a:pPr>
            <a:r>
              <a:rPr lang="en-US" sz="1700" b="1" dirty="0">
                <a:solidFill>
                  <a:srgbClr val="2C5F2D"/>
                </a:solidFill>
                <a:latin typeface="Calibri" pitchFamily="34" charset="0"/>
                <a:ea typeface="Calibri" pitchFamily="34" charset="-122"/>
                <a:cs typeface="Calibri" pitchFamily="34" charset="-120"/>
              </a:rPr>
              <a:t>Participation &amp; volunteer events</a:t>
            </a:r>
            <a:endParaRPr lang="en-US" sz="1700" dirty="0"/>
          </a:p>
        </p:txBody>
      </p:sp>
      <p:sp>
        <p:nvSpPr>
          <p:cNvPr id="33" name="Text 27"/>
          <p:cNvSpPr/>
          <p:nvPr/>
        </p:nvSpPr>
        <p:spPr>
          <a:xfrm>
            <a:off x="8330184" y="4663440"/>
            <a:ext cx="2862072" cy="1188720"/>
          </a:xfrm>
          <a:prstGeom prst="rect">
            <a:avLst/>
          </a:prstGeom>
          <a:noFill/>
          <a:ln/>
        </p:spPr>
        <p:txBody>
          <a:bodyPr wrap="square" rtlCol="0" anchor="ctr"/>
          <a:lstStyle/>
          <a:p>
            <a:pPr marL="0" indent="0">
              <a:buNone/>
            </a:pPr>
            <a:r>
              <a:rPr lang="en-US" sz="1350" dirty="0">
                <a:solidFill>
                  <a:srgbClr val="5C6B57"/>
                </a:solidFill>
                <a:latin typeface="Calibri" pitchFamily="34" charset="0"/>
                <a:ea typeface="Calibri" pitchFamily="34" charset="-122"/>
                <a:cs typeface="Calibri" pitchFamily="34" charset="-120"/>
              </a:rPr>
              <a:t>Join as participant or staff · capacity checks · staff eligibility gate · impact points + verification.</a:t>
            </a:r>
            <a:endParaRPr lang="en-US" sz="1350" dirty="0"/>
          </a:p>
        </p:txBody>
      </p:sp>
      <p:sp>
        <p:nvSpPr>
          <p:cNvPr id="34" name="Text 28"/>
          <p:cNvSpPr/>
          <p:nvPr/>
        </p:nvSpPr>
        <p:spPr>
          <a:xfrm>
            <a:off x="640080" y="6172200"/>
            <a:ext cx="10881360" cy="365760"/>
          </a:xfrm>
          <a:prstGeom prst="rect">
            <a:avLst/>
          </a:prstGeom>
          <a:noFill/>
          <a:ln/>
        </p:spPr>
        <p:txBody>
          <a:bodyPr wrap="square" rtlCol="0" anchor="ctr"/>
          <a:lstStyle/>
          <a:p>
            <a:pPr marL="0" indent="0" algn="ctr">
              <a:buNone/>
            </a:pPr>
            <a:r>
              <a:rPr lang="en-US" sz="1300" i="1" dirty="0">
                <a:solidFill>
                  <a:srgbClr val="2C5F2D"/>
                </a:solidFill>
                <a:latin typeface="Calibri" pitchFamily="34" charset="0"/>
                <a:ea typeface="Calibri" pitchFamily="34" charset="-122"/>
                <a:cs typeface="Calibri" pitchFamily="34" charset="-120"/>
              </a:rPr>
              <a:t>Shown end-to-end in the live demo — the part we're most proud of.</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3D1D"/>
        </a:solidFill>
        <a:effectLst/>
      </p:bgPr>
    </p:bg>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ellipse">
            <a:avLst/>
          </a:prstGeom>
          <a:solidFill>
            <a:srgbClr val="97BC62"/>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854050" y="671170"/>
            <a:ext cx="395021" cy="395021"/>
          </a:xfrm>
          <a:prstGeom prst="rect">
            <a:avLst/>
          </a:prstGeom>
        </p:spPr>
      </p:pic>
      <p:sp>
        <p:nvSpPr>
          <p:cNvPr id="4" name="Text 1"/>
          <p:cNvSpPr/>
          <p:nvPr/>
        </p:nvSpPr>
        <p:spPr>
          <a:xfrm>
            <a:off x="1600200" y="457200"/>
            <a:ext cx="7315200" cy="777240"/>
          </a:xfrm>
          <a:prstGeom prst="rect">
            <a:avLst/>
          </a:prstGeom>
          <a:noFill/>
          <a:ln/>
        </p:spPr>
        <p:txBody>
          <a:bodyPr wrap="square" rtlCol="0" anchor="ctr"/>
          <a:lstStyle/>
          <a:p>
            <a:pPr marL="0" indent="0">
              <a:buNone/>
            </a:pPr>
            <a:r>
              <a:rPr lang="en-US" sz="3400" b="1" dirty="0">
                <a:solidFill>
                  <a:srgbClr val="FFFFFF"/>
                </a:solidFill>
                <a:latin typeface="Bookman Old Style" pitchFamily="34" charset="0"/>
                <a:ea typeface="Bookman Old Style" pitchFamily="34" charset="-122"/>
                <a:cs typeface="Bookman Old Style" pitchFamily="34" charset="-120"/>
              </a:rPr>
              <a:t>Maps</a:t>
            </a:r>
            <a:endParaRPr lang="en-US" sz="3400" dirty="0"/>
          </a:p>
        </p:txBody>
      </p:sp>
      <p:sp>
        <p:nvSpPr>
          <p:cNvPr id="5" name="Shape 2"/>
          <p:cNvSpPr/>
          <p:nvPr/>
        </p:nvSpPr>
        <p:spPr>
          <a:xfrm>
            <a:off x="10332720" y="566928"/>
            <a:ext cx="1188720" cy="548640"/>
          </a:xfrm>
          <a:prstGeom prst="roundRect">
            <a:avLst>
              <a:gd name="adj" fmla="val 48333"/>
            </a:avLst>
          </a:prstGeom>
          <a:solidFill>
            <a:srgbClr val="E8A33D"/>
          </a:solidFill>
          <a:ln/>
        </p:spPr>
        <p:txBody>
          <a:bodyPr/>
          <a:lstStyle/>
          <a:p>
            <a:endParaRPr lang="en-US"/>
          </a:p>
        </p:txBody>
      </p:sp>
      <p:sp>
        <p:nvSpPr>
          <p:cNvPr id="6" name="Text 3"/>
          <p:cNvSpPr/>
          <p:nvPr/>
        </p:nvSpPr>
        <p:spPr>
          <a:xfrm>
            <a:off x="10332720" y="566928"/>
            <a:ext cx="1188720" cy="548640"/>
          </a:xfrm>
          <a:prstGeom prst="rect">
            <a:avLst/>
          </a:prstGeom>
          <a:noFill/>
          <a:ln/>
        </p:spPr>
        <p:txBody>
          <a:bodyPr wrap="square" rtlCol="0" anchor="ctr"/>
          <a:lstStyle/>
          <a:p>
            <a:pPr marL="0" indent="0" algn="ctr">
              <a:buNone/>
            </a:pPr>
            <a:r>
              <a:rPr lang="en-US" sz="1800" b="1" dirty="0">
                <a:solidFill>
                  <a:srgbClr val="1C3D1D"/>
                </a:solidFill>
                <a:latin typeface="Calibri" pitchFamily="34" charset="0"/>
                <a:ea typeface="Calibri" pitchFamily="34" charset="-122"/>
                <a:cs typeface="Calibri" pitchFamily="34" charset="-120"/>
              </a:rPr>
              <a:t>(c)</a:t>
            </a:r>
            <a:endParaRPr lang="en-US" sz="1800" dirty="0"/>
          </a:p>
        </p:txBody>
      </p:sp>
      <p:sp>
        <p:nvSpPr>
          <p:cNvPr id="7" name="Text 4"/>
          <p:cNvSpPr/>
          <p:nvPr/>
        </p:nvSpPr>
        <p:spPr>
          <a:xfrm>
            <a:off x="640080" y="1417320"/>
            <a:ext cx="10515600" cy="457200"/>
          </a:xfrm>
          <a:prstGeom prst="rect">
            <a:avLst/>
          </a:prstGeom>
          <a:noFill/>
          <a:ln/>
        </p:spPr>
        <p:txBody>
          <a:bodyPr wrap="square" rtlCol="0" anchor="ctr"/>
          <a:lstStyle/>
          <a:p>
            <a:pPr marL="0" indent="0">
              <a:buNone/>
            </a:pPr>
            <a:r>
              <a:rPr lang="en-US" sz="1600" i="1" dirty="0">
                <a:solidFill>
                  <a:srgbClr val="C9DCA3"/>
                </a:solidFill>
                <a:latin typeface="Calibri" pitchFamily="34" charset="0"/>
                <a:ea typeface="Calibri" pitchFamily="34" charset="-122"/>
                <a:cs typeface="Calibri" pitchFamily="34" charset="-120"/>
              </a:rPr>
              <a:t>Google Maps · real coordinates · validated server-side · both clients</a:t>
            </a:r>
            <a:endParaRPr lang="en-US" sz="1600" dirty="0"/>
          </a:p>
        </p:txBody>
      </p:sp>
      <p:sp>
        <p:nvSpPr>
          <p:cNvPr id="8" name="Shape 5"/>
          <p:cNvSpPr/>
          <p:nvPr/>
        </p:nvSpPr>
        <p:spPr>
          <a:xfrm>
            <a:off x="640080" y="2194560"/>
            <a:ext cx="5349240" cy="1783080"/>
          </a:xfrm>
          <a:prstGeom prst="roundRect">
            <a:avLst>
              <a:gd name="adj" fmla="val 5128"/>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9" name="Shape 6"/>
          <p:cNvSpPr/>
          <p:nvPr/>
        </p:nvSpPr>
        <p:spPr>
          <a:xfrm>
            <a:off x="960120" y="2514600"/>
            <a:ext cx="731520" cy="731520"/>
          </a:xfrm>
          <a:prstGeom prst="ellipse">
            <a:avLst/>
          </a:prstGeom>
          <a:solidFill>
            <a:srgbClr val="97BC62"/>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1150315" y="2704795"/>
            <a:ext cx="351130" cy="351130"/>
          </a:xfrm>
          <a:prstGeom prst="rect">
            <a:avLst/>
          </a:prstGeom>
        </p:spPr>
      </p:pic>
      <p:sp>
        <p:nvSpPr>
          <p:cNvPr id="11" name="Text 7"/>
          <p:cNvSpPr/>
          <p:nvPr/>
        </p:nvSpPr>
        <p:spPr>
          <a:xfrm>
            <a:off x="1965960" y="2468880"/>
            <a:ext cx="3794760" cy="50292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Coordinates on every activity</a:t>
            </a:r>
            <a:endParaRPr lang="en-US" sz="1700" dirty="0"/>
          </a:p>
        </p:txBody>
      </p:sp>
      <p:sp>
        <p:nvSpPr>
          <p:cNvPr id="12" name="Text 8"/>
          <p:cNvSpPr/>
          <p:nvPr/>
        </p:nvSpPr>
        <p:spPr>
          <a:xfrm>
            <a:off x="1965960" y="3063240"/>
            <a:ext cx="3794760" cy="777240"/>
          </a:xfrm>
          <a:prstGeom prst="rect">
            <a:avLst/>
          </a:prstGeom>
          <a:noFill/>
          <a:ln/>
        </p:spPr>
        <p:txBody>
          <a:bodyPr wrap="square" rtlCol="0" anchor="ctr"/>
          <a:lstStyle/>
          <a:p>
            <a:pPr marL="0" indent="0">
              <a:buNone/>
            </a:pPr>
            <a:r>
              <a:rPr lang="en-US" sz="1350" dirty="0">
                <a:solidFill>
                  <a:srgbClr val="C9DCA3"/>
                </a:solidFill>
                <a:latin typeface="Calibri" pitchFamily="34" charset="0"/>
                <a:ea typeface="Calibri" pitchFamily="34" charset="-122"/>
                <a:cs typeface="Calibri" pitchFamily="34" charset="-120"/>
              </a:rPr>
              <a:t>Lat / lng stored and validated on the backend.</a:t>
            </a:r>
            <a:endParaRPr lang="en-US" sz="1350" dirty="0"/>
          </a:p>
        </p:txBody>
      </p:sp>
      <p:sp>
        <p:nvSpPr>
          <p:cNvPr id="13" name="Shape 9"/>
          <p:cNvSpPr/>
          <p:nvPr/>
        </p:nvSpPr>
        <p:spPr>
          <a:xfrm>
            <a:off x="6172200" y="2194560"/>
            <a:ext cx="5349240" cy="1783080"/>
          </a:xfrm>
          <a:prstGeom prst="roundRect">
            <a:avLst>
              <a:gd name="adj" fmla="val 5128"/>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4" name="Shape 10"/>
          <p:cNvSpPr/>
          <p:nvPr/>
        </p:nvSpPr>
        <p:spPr>
          <a:xfrm>
            <a:off x="6492240" y="2514600"/>
            <a:ext cx="731520" cy="731520"/>
          </a:xfrm>
          <a:prstGeom prst="ellipse">
            <a:avLst/>
          </a:prstGeom>
          <a:solidFill>
            <a:srgbClr val="97BC62"/>
          </a:solidFill>
          <a:ln/>
        </p:spPr>
        <p:txBody>
          <a:bodyPr/>
          <a:lstStyle/>
          <a:p>
            <a:endParaRPr lang="en-US"/>
          </a:p>
        </p:txBody>
      </p:sp>
      <p:pic>
        <p:nvPicPr>
          <p:cNvPr id="15" name="Image 2" descr="preencoded.png"/>
          <p:cNvPicPr>
            <a:picLocks noChangeAspect="1"/>
          </p:cNvPicPr>
          <p:nvPr/>
        </p:nvPicPr>
        <p:blipFill>
          <a:blip r:embed="rId3"/>
          <a:stretch>
            <a:fillRect/>
          </a:stretch>
        </p:blipFill>
        <p:spPr>
          <a:xfrm>
            <a:off x="6682435" y="2704795"/>
            <a:ext cx="351130" cy="351130"/>
          </a:xfrm>
          <a:prstGeom prst="rect">
            <a:avLst/>
          </a:prstGeom>
        </p:spPr>
      </p:pic>
      <p:sp>
        <p:nvSpPr>
          <p:cNvPr id="16" name="Text 11"/>
          <p:cNvSpPr/>
          <p:nvPr/>
        </p:nvSpPr>
        <p:spPr>
          <a:xfrm>
            <a:off x="7498080" y="2468880"/>
            <a:ext cx="3794760" cy="50292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Web — discovery map</a:t>
            </a:r>
            <a:endParaRPr lang="en-US" sz="1700" dirty="0"/>
          </a:p>
        </p:txBody>
      </p:sp>
      <p:sp>
        <p:nvSpPr>
          <p:cNvPr id="17" name="Text 12"/>
          <p:cNvSpPr/>
          <p:nvPr/>
        </p:nvSpPr>
        <p:spPr>
          <a:xfrm>
            <a:off x="7498080" y="3063240"/>
            <a:ext cx="3794760" cy="777240"/>
          </a:xfrm>
          <a:prstGeom prst="rect">
            <a:avLst/>
          </a:prstGeom>
          <a:noFill/>
          <a:ln/>
        </p:spPr>
        <p:txBody>
          <a:bodyPr wrap="square" rtlCol="0" anchor="ctr"/>
          <a:lstStyle/>
          <a:p>
            <a:pPr marL="0" indent="0">
              <a:buNone/>
            </a:pPr>
            <a:r>
              <a:rPr lang="en-US" sz="1350" dirty="0">
                <a:solidFill>
                  <a:srgbClr val="C9DCA3"/>
                </a:solidFill>
                <a:latin typeface="Calibri" pitchFamily="34" charset="0"/>
                <a:ea typeface="Calibri" pitchFamily="34" charset="-122"/>
                <a:cs typeface="Calibri" pitchFamily="34" charset="-120"/>
              </a:rPr>
              <a:t>All published activities as pins → click → details.</a:t>
            </a:r>
            <a:endParaRPr lang="en-US" sz="1350" dirty="0"/>
          </a:p>
        </p:txBody>
      </p:sp>
      <p:sp>
        <p:nvSpPr>
          <p:cNvPr id="18" name="Shape 13"/>
          <p:cNvSpPr/>
          <p:nvPr/>
        </p:nvSpPr>
        <p:spPr>
          <a:xfrm>
            <a:off x="640080" y="4206240"/>
            <a:ext cx="5349240" cy="1783080"/>
          </a:xfrm>
          <a:prstGeom prst="roundRect">
            <a:avLst>
              <a:gd name="adj" fmla="val 5128"/>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9" name="Shape 14"/>
          <p:cNvSpPr/>
          <p:nvPr/>
        </p:nvSpPr>
        <p:spPr>
          <a:xfrm>
            <a:off x="960120" y="4526280"/>
            <a:ext cx="731520" cy="731520"/>
          </a:xfrm>
          <a:prstGeom prst="ellipse">
            <a:avLst/>
          </a:prstGeom>
          <a:solidFill>
            <a:srgbClr val="97BC62"/>
          </a:solidFill>
          <a:ln/>
        </p:spPr>
        <p:txBody>
          <a:bodyPr/>
          <a:lstStyle/>
          <a:p>
            <a:endParaRPr lang="en-US"/>
          </a:p>
        </p:txBody>
      </p:sp>
      <p:pic>
        <p:nvPicPr>
          <p:cNvPr id="20" name="Image 3" descr="preencoded.png"/>
          <p:cNvPicPr>
            <a:picLocks noChangeAspect="1"/>
          </p:cNvPicPr>
          <p:nvPr/>
        </p:nvPicPr>
        <p:blipFill>
          <a:blip r:embed="rId5"/>
          <a:stretch>
            <a:fillRect/>
          </a:stretch>
        </p:blipFill>
        <p:spPr>
          <a:xfrm>
            <a:off x="1150315" y="4716475"/>
            <a:ext cx="351130" cy="351130"/>
          </a:xfrm>
          <a:prstGeom prst="rect">
            <a:avLst/>
          </a:prstGeom>
        </p:spPr>
      </p:pic>
      <p:sp>
        <p:nvSpPr>
          <p:cNvPr id="21" name="Text 15"/>
          <p:cNvSpPr/>
          <p:nvPr/>
        </p:nvSpPr>
        <p:spPr>
          <a:xfrm>
            <a:off x="1965960" y="4480560"/>
            <a:ext cx="3794760" cy="50292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Web — location picker</a:t>
            </a:r>
            <a:endParaRPr lang="en-US" sz="1700" dirty="0"/>
          </a:p>
        </p:txBody>
      </p:sp>
      <p:sp>
        <p:nvSpPr>
          <p:cNvPr id="22" name="Text 16"/>
          <p:cNvSpPr/>
          <p:nvPr/>
        </p:nvSpPr>
        <p:spPr>
          <a:xfrm>
            <a:off x="1965960" y="5074920"/>
            <a:ext cx="3794760" cy="777240"/>
          </a:xfrm>
          <a:prstGeom prst="rect">
            <a:avLst/>
          </a:prstGeom>
          <a:noFill/>
          <a:ln/>
        </p:spPr>
        <p:txBody>
          <a:bodyPr wrap="square" rtlCol="0" anchor="ctr"/>
          <a:lstStyle/>
          <a:p>
            <a:pPr marL="0" indent="0">
              <a:buNone/>
            </a:pPr>
            <a:r>
              <a:rPr lang="en-US" sz="1350" dirty="0">
                <a:solidFill>
                  <a:srgbClr val="C9DCA3"/>
                </a:solidFill>
                <a:latin typeface="Calibri" pitchFamily="34" charset="0"/>
                <a:ea typeface="Calibri" pitchFamily="34" charset="-122"/>
                <a:cs typeface="Calibri" pitchFamily="34" charset="-120"/>
              </a:rPr>
              <a:t>Click-to-pick map when creating or editing an activity.</a:t>
            </a:r>
            <a:endParaRPr lang="en-US" sz="1350" dirty="0"/>
          </a:p>
        </p:txBody>
      </p:sp>
      <p:sp>
        <p:nvSpPr>
          <p:cNvPr id="23" name="Shape 17"/>
          <p:cNvSpPr/>
          <p:nvPr/>
        </p:nvSpPr>
        <p:spPr>
          <a:xfrm>
            <a:off x="6172200" y="4206240"/>
            <a:ext cx="5349240" cy="1783080"/>
          </a:xfrm>
          <a:prstGeom prst="roundRect">
            <a:avLst>
              <a:gd name="adj" fmla="val 5128"/>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24" name="Shape 18"/>
          <p:cNvSpPr/>
          <p:nvPr/>
        </p:nvSpPr>
        <p:spPr>
          <a:xfrm>
            <a:off x="6492240" y="4526280"/>
            <a:ext cx="731520" cy="731520"/>
          </a:xfrm>
          <a:prstGeom prst="ellipse">
            <a:avLst/>
          </a:prstGeom>
          <a:solidFill>
            <a:srgbClr val="97BC62"/>
          </a:solidFill>
          <a:ln/>
        </p:spPr>
        <p:txBody>
          <a:bodyPr/>
          <a:lstStyle/>
          <a:p>
            <a:endParaRPr lang="en-US"/>
          </a:p>
        </p:txBody>
      </p:sp>
      <p:pic>
        <p:nvPicPr>
          <p:cNvPr id="25" name="Image 4" descr="preencoded.png"/>
          <p:cNvPicPr>
            <a:picLocks noChangeAspect="1"/>
          </p:cNvPicPr>
          <p:nvPr/>
        </p:nvPicPr>
        <p:blipFill>
          <a:blip r:embed="rId6"/>
          <a:stretch>
            <a:fillRect/>
          </a:stretch>
        </p:blipFill>
        <p:spPr>
          <a:xfrm>
            <a:off x="6682435" y="4716475"/>
            <a:ext cx="351130" cy="351130"/>
          </a:xfrm>
          <a:prstGeom prst="rect">
            <a:avLst/>
          </a:prstGeom>
        </p:spPr>
      </p:pic>
      <p:sp>
        <p:nvSpPr>
          <p:cNvPr id="26" name="Text 19"/>
          <p:cNvSpPr/>
          <p:nvPr/>
        </p:nvSpPr>
        <p:spPr>
          <a:xfrm>
            <a:off x="7498080" y="4480560"/>
            <a:ext cx="3794760" cy="50292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Mobile — Find tab</a:t>
            </a:r>
            <a:endParaRPr lang="en-US" sz="1700" dirty="0"/>
          </a:p>
        </p:txBody>
      </p:sp>
      <p:sp>
        <p:nvSpPr>
          <p:cNvPr id="27" name="Text 20"/>
          <p:cNvSpPr/>
          <p:nvPr/>
        </p:nvSpPr>
        <p:spPr>
          <a:xfrm>
            <a:off x="7498080" y="5074920"/>
            <a:ext cx="3794760" cy="777240"/>
          </a:xfrm>
          <a:prstGeom prst="rect">
            <a:avLst/>
          </a:prstGeom>
          <a:noFill/>
          <a:ln/>
        </p:spPr>
        <p:txBody>
          <a:bodyPr wrap="square" rtlCol="0" anchor="ctr"/>
          <a:lstStyle/>
          <a:p>
            <a:pPr marL="0" indent="0">
              <a:buNone/>
            </a:pPr>
            <a:r>
              <a:rPr lang="en-US" sz="1350" dirty="0">
                <a:solidFill>
                  <a:srgbClr val="C9DCA3"/>
                </a:solidFill>
                <a:latin typeface="Calibri" pitchFamily="34" charset="0"/>
                <a:ea typeface="Calibri" pitchFamily="34" charset="-122"/>
                <a:cs typeface="Calibri" pitchFamily="34" charset="-120"/>
              </a:rPr>
              <a:t>Map-based Find tab in the Flutter app.</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0"/>
        </a:solidFill>
        <a:effectLst/>
      </p:bgPr>
    </p:bg>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ellipse">
            <a:avLst/>
          </a:prstGeom>
          <a:solidFill>
            <a:srgbClr val="2C5F2D"/>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854050" y="671170"/>
            <a:ext cx="395021" cy="395021"/>
          </a:xfrm>
          <a:prstGeom prst="rect">
            <a:avLst/>
          </a:prstGeom>
        </p:spPr>
      </p:pic>
      <p:sp>
        <p:nvSpPr>
          <p:cNvPr id="4" name="Text 1"/>
          <p:cNvSpPr/>
          <p:nvPr/>
        </p:nvSpPr>
        <p:spPr>
          <a:xfrm>
            <a:off x="1600200" y="457200"/>
            <a:ext cx="8229600" cy="777240"/>
          </a:xfrm>
          <a:prstGeom prst="rect">
            <a:avLst/>
          </a:prstGeom>
          <a:noFill/>
          <a:ln/>
        </p:spPr>
        <p:txBody>
          <a:bodyPr wrap="square" rtlCol="0" anchor="ctr"/>
          <a:lstStyle/>
          <a:p>
            <a:pPr marL="0" indent="0">
              <a:buNone/>
            </a:pPr>
            <a:r>
              <a:rPr lang="en-US" sz="3400" b="1" dirty="0">
                <a:solidFill>
                  <a:srgbClr val="2C5F2D"/>
                </a:solidFill>
                <a:latin typeface="Bookman Old Style" pitchFamily="34" charset="0"/>
                <a:ea typeface="Bookman Old Style" pitchFamily="34" charset="-122"/>
                <a:cs typeface="Bookman Old Style" pitchFamily="34" charset="-120"/>
              </a:rPr>
              <a:t>Web app — live demo</a:t>
            </a:r>
            <a:endParaRPr lang="en-US" sz="3400" dirty="0"/>
          </a:p>
        </p:txBody>
      </p:sp>
      <p:sp>
        <p:nvSpPr>
          <p:cNvPr id="5" name="Shape 2"/>
          <p:cNvSpPr/>
          <p:nvPr/>
        </p:nvSpPr>
        <p:spPr>
          <a:xfrm>
            <a:off x="10332720" y="566928"/>
            <a:ext cx="1188720" cy="548640"/>
          </a:xfrm>
          <a:prstGeom prst="roundRect">
            <a:avLst>
              <a:gd name="adj" fmla="val 48333"/>
            </a:avLst>
          </a:prstGeom>
          <a:solidFill>
            <a:srgbClr val="E8A33D"/>
          </a:solidFill>
          <a:ln/>
        </p:spPr>
        <p:txBody>
          <a:bodyPr/>
          <a:lstStyle/>
          <a:p>
            <a:endParaRPr lang="en-US"/>
          </a:p>
        </p:txBody>
      </p:sp>
      <p:sp>
        <p:nvSpPr>
          <p:cNvPr id="6" name="Text 3"/>
          <p:cNvSpPr/>
          <p:nvPr/>
        </p:nvSpPr>
        <p:spPr>
          <a:xfrm>
            <a:off x="10332720" y="566928"/>
            <a:ext cx="1188720" cy="548640"/>
          </a:xfrm>
          <a:prstGeom prst="rect">
            <a:avLst/>
          </a:prstGeom>
          <a:noFill/>
          <a:ln/>
        </p:spPr>
        <p:txBody>
          <a:bodyPr wrap="square" rtlCol="0" anchor="ctr"/>
          <a:lstStyle/>
          <a:p>
            <a:pPr marL="0" indent="0" algn="ctr">
              <a:buNone/>
            </a:pPr>
            <a:r>
              <a:rPr lang="en-US" sz="1800" b="1" dirty="0">
                <a:solidFill>
                  <a:srgbClr val="1C3D1D"/>
                </a:solidFill>
                <a:latin typeface="Calibri" pitchFamily="34" charset="0"/>
                <a:ea typeface="Calibri" pitchFamily="34" charset="-122"/>
                <a:cs typeface="Calibri" pitchFamily="34" charset="-120"/>
              </a:rPr>
              <a:t>(d)</a:t>
            </a:r>
            <a:endParaRPr lang="en-US" sz="1800" dirty="0"/>
          </a:p>
        </p:txBody>
      </p:sp>
      <p:sp>
        <p:nvSpPr>
          <p:cNvPr id="7" name="Shape 4"/>
          <p:cNvSpPr/>
          <p:nvPr/>
        </p:nvSpPr>
        <p:spPr>
          <a:xfrm>
            <a:off x="640080" y="1417320"/>
            <a:ext cx="7863840" cy="640080"/>
          </a:xfrm>
          <a:prstGeom prst="roundRect">
            <a:avLst>
              <a:gd name="adj" fmla="val 17143"/>
            </a:avLst>
          </a:prstGeom>
          <a:solidFill>
            <a:srgbClr val="1C3D1D"/>
          </a:solidFill>
          <a:ln/>
        </p:spPr>
        <p:txBody>
          <a:bodyPr/>
          <a:lstStyle/>
          <a:p>
            <a:endParaRPr lang="en-US"/>
          </a:p>
        </p:txBody>
      </p:sp>
      <p:sp>
        <p:nvSpPr>
          <p:cNvPr id="8" name="Shape 5"/>
          <p:cNvSpPr/>
          <p:nvPr/>
        </p:nvSpPr>
        <p:spPr>
          <a:xfrm>
            <a:off x="822960" y="1508760"/>
            <a:ext cx="457200" cy="457200"/>
          </a:xfrm>
          <a:prstGeom prst="ellipse">
            <a:avLst/>
          </a:prstGeom>
          <a:solidFill>
            <a:srgbClr val="E8A33D"/>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941832" y="1627632"/>
            <a:ext cx="219456" cy="219456"/>
          </a:xfrm>
          <a:prstGeom prst="rect">
            <a:avLst/>
          </a:prstGeom>
        </p:spPr>
      </p:pic>
      <p:sp>
        <p:nvSpPr>
          <p:cNvPr id="10" name="Text 6"/>
          <p:cNvSpPr/>
          <p:nvPr/>
        </p:nvSpPr>
        <p:spPr>
          <a:xfrm>
            <a:off x="1417320" y="1417320"/>
            <a:ext cx="6949440" cy="6400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LIVE  ·  web-dot-tribo-497810.ew.r.appspot.com</a:t>
            </a:r>
            <a:endParaRPr lang="en-US" sz="1500" dirty="0"/>
          </a:p>
        </p:txBody>
      </p:sp>
      <p:sp>
        <p:nvSpPr>
          <p:cNvPr id="11" name="Text 7"/>
          <p:cNvSpPr/>
          <p:nvPr/>
        </p:nvSpPr>
        <p:spPr>
          <a:xfrm>
            <a:off x="640080" y="2331720"/>
            <a:ext cx="5486400" cy="365760"/>
          </a:xfrm>
          <a:prstGeom prst="rect">
            <a:avLst/>
          </a:prstGeom>
          <a:noFill/>
          <a:ln/>
        </p:spPr>
        <p:txBody>
          <a:bodyPr wrap="square" rtlCol="0" anchor="ctr"/>
          <a:lstStyle/>
          <a:p>
            <a:pPr marL="0" indent="0">
              <a:buNone/>
            </a:pPr>
            <a:r>
              <a:rPr lang="en-US" sz="1600" b="1" dirty="0">
                <a:solidFill>
                  <a:srgbClr val="1B2A1B"/>
                </a:solidFill>
                <a:latin typeface="Calibri" pitchFamily="34" charset="0"/>
                <a:ea typeface="Calibri" pitchFamily="34" charset="-122"/>
                <a:cs typeface="Calibri" pitchFamily="34" charset="-120"/>
              </a:rPr>
              <a:t>Demo path</a:t>
            </a:r>
            <a:endParaRPr lang="en-US" sz="1600" dirty="0"/>
          </a:p>
        </p:txBody>
      </p:sp>
      <p:sp>
        <p:nvSpPr>
          <p:cNvPr id="12" name="Shape 8"/>
          <p:cNvSpPr/>
          <p:nvPr/>
        </p:nvSpPr>
        <p:spPr>
          <a:xfrm>
            <a:off x="640080" y="2788920"/>
            <a:ext cx="566928" cy="566928"/>
          </a:xfrm>
          <a:prstGeom prst="ellipse">
            <a:avLst/>
          </a:prstGeom>
          <a:solidFill>
            <a:srgbClr val="2C5F2D"/>
          </a:solidFill>
          <a:ln/>
        </p:spPr>
        <p:txBody>
          <a:bodyPr/>
          <a:lstStyle/>
          <a:p>
            <a:endParaRPr lang="en-US"/>
          </a:p>
        </p:txBody>
      </p:sp>
      <p:sp>
        <p:nvSpPr>
          <p:cNvPr id="13" name="Text 9"/>
          <p:cNvSpPr/>
          <p:nvPr/>
        </p:nvSpPr>
        <p:spPr>
          <a:xfrm>
            <a:off x="640080" y="2788920"/>
            <a:ext cx="566928" cy="56692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0"/>
          <p:cNvSpPr/>
          <p:nvPr/>
        </p:nvSpPr>
        <p:spPr>
          <a:xfrm>
            <a:off x="1371600" y="2788920"/>
            <a:ext cx="5303520" cy="566928"/>
          </a:xfrm>
          <a:prstGeom prst="rect">
            <a:avLst/>
          </a:prstGeom>
          <a:noFill/>
          <a:ln/>
        </p:spPr>
        <p:txBody>
          <a:bodyPr wrap="square" rtlCol="0" anchor="ctr"/>
          <a:lstStyle/>
          <a:p>
            <a:pPr marL="0" indent="0">
              <a:buNone/>
            </a:pPr>
            <a:r>
              <a:rPr lang="en-US" sz="1500" dirty="0">
                <a:solidFill>
                  <a:srgbClr val="1B2A1B"/>
                </a:solidFill>
                <a:latin typeface="Calibri" pitchFamily="34" charset="0"/>
                <a:ea typeface="Calibri" pitchFamily="34" charset="-122"/>
                <a:cs typeface="Calibri" pitchFamily="34" charset="-120"/>
              </a:rPr>
              <a:t>Landing (public)</a:t>
            </a:r>
            <a:endParaRPr lang="en-US" sz="1500" dirty="0"/>
          </a:p>
        </p:txBody>
      </p:sp>
      <p:sp>
        <p:nvSpPr>
          <p:cNvPr id="15" name="Shape 11"/>
          <p:cNvSpPr/>
          <p:nvPr/>
        </p:nvSpPr>
        <p:spPr>
          <a:xfrm>
            <a:off x="640080" y="3465576"/>
            <a:ext cx="566928" cy="566928"/>
          </a:xfrm>
          <a:prstGeom prst="ellipse">
            <a:avLst/>
          </a:prstGeom>
          <a:solidFill>
            <a:srgbClr val="2C5F2D"/>
          </a:solidFill>
          <a:ln/>
        </p:spPr>
        <p:txBody>
          <a:bodyPr/>
          <a:lstStyle/>
          <a:p>
            <a:endParaRPr lang="en-US"/>
          </a:p>
        </p:txBody>
      </p:sp>
      <p:sp>
        <p:nvSpPr>
          <p:cNvPr id="16" name="Text 12"/>
          <p:cNvSpPr/>
          <p:nvPr/>
        </p:nvSpPr>
        <p:spPr>
          <a:xfrm>
            <a:off x="640080" y="3465576"/>
            <a:ext cx="566928" cy="56692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3"/>
          <p:cNvSpPr/>
          <p:nvPr/>
        </p:nvSpPr>
        <p:spPr>
          <a:xfrm>
            <a:off x="1371600" y="3465576"/>
            <a:ext cx="5303520" cy="566928"/>
          </a:xfrm>
          <a:prstGeom prst="rect">
            <a:avLst/>
          </a:prstGeom>
          <a:noFill/>
          <a:ln/>
        </p:spPr>
        <p:txBody>
          <a:bodyPr wrap="square" rtlCol="0" anchor="ctr"/>
          <a:lstStyle/>
          <a:p>
            <a:pPr marL="0" indent="0">
              <a:buNone/>
            </a:pPr>
            <a:r>
              <a:rPr lang="en-US" sz="1500" dirty="0">
                <a:solidFill>
                  <a:srgbClr val="1B2A1B"/>
                </a:solidFill>
                <a:latin typeface="Calibri" pitchFamily="34" charset="0"/>
                <a:ea typeface="Calibri" pitchFamily="34" charset="-122"/>
                <a:cs typeface="Calibri" pitchFamily="34" charset="-120"/>
              </a:rPr>
              <a:t>Login (backoffice / sysadmin)</a:t>
            </a:r>
            <a:endParaRPr lang="en-US" sz="1500" dirty="0"/>
          </a:p>
        </p:txBody>
      </p:sp>
      <p:sp>
        <p:nvSpPr>
          <p:cNvPr id="18" name="Shape 14"/>
          <p:cNvSpPr/>
          <p:nvPr/>
        </p:nvSpPr>
        <p:spPr>
          <a:xfrm>
            <a:off x="640080" y="4142232"/>
            <a:ext cx="566928" cy="566928"/>
          </a:xfrm>
          <a:prstGeom prst="ellipse">
            <a:avLst/>
          </a:prstGeom>
          <a:solidFill>
            <a:srgbClr val="2C5F2D"/>
          </a:solidFill>
          <a:ln/>
        </p:spPr>
        <p:txBody>
          <a:bodyPr/>
          <a:lstStyle/>
          <a:p>
            <a:endParaRPr lang="en-US"/>
          </a:p>
        </p:txBody>
      </p:sp>
      <p:sp>
        <p:nvSpPr>
          <p:cNvPr id="19" name="Text 15"/>
          <p:cNvSpPr/>
          <p:nvPr/>
        </p:nvSpPr>
        <p:spPr>
          <a:xfrm>
            <a:off x="640080" y="4142232"/>
            <a:ext cx="566928" cy="56692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6"/>
          <p:cNvSpPr/>
          <p:nvPr/>
        </p:nvSpPr>
        <p:spPr>
          <a:xfrm>
            <a:off x="1371600" y="4142232"/>
            <a:ext cx="5303520" cy="566928"/>
          </a:xfrm>
          <a:prstGeom prst="rect">
            <a:avLst/>
          </a:prstGeom>
          <a:noFill/>
          <a:ln/>
        </p:spPr>
        <p:txBody>
          <a:bodyPr wrap="square" rtlCol="0" anchor="ctr"/>
          <a:lstStyle/>
          <a:p>
            <a:pPr marL="0" indent="0">
              <a:buNone/>
            </a:pPr>
            <a:r>
              <a:rPr lang="en-US" sz="1500" dirty="0">
                <a:solidFill>
                  <a:srgbClr val="1B2A1B"/>
                </a:solidFill>
                <a:latin typeface="Calibri" pitchFamily="34" charset="0"/>
                <a:ea typeface="Calibri" pitchFamily="34" charset="-122"/>
                <a:cs typeface="Calibri" pitchFamily="34" charset="-120"/>
              </a:rPr>
              <a:t>Feed — runs &amp; volunteer joins</a:t>
            </a:r>
            <a:endParaRPr lang="en-US" sz="1500" dirty="0"/>
          </a:p>
        </p:txBody>
      </p:sp>
      <p:sp>
        <p:nvSpPr>
          <p:cNvPr id="21" name="Shape 17"/>
          <p:cNvSpPr/>
          <p:nvPr/>
        </p:nvSpPr>
        <p:spPr>
          <a:xfrm>
            <a:off x="640080" y="4818888"/>
            <a:ext cx="566928" cy="566928"/>
          </a:xfrm>
          <a:prstGeom prst="ellipse">
            <a:avLst/>
          </a:prstGeom>
          <a:solidFill>
            <a:srgbClr val="2C5F2D"/>
          </a:solidFill>
          <a:ln/>
        </p:spPr>
        <p:txBody>
          <a:bodyPr/>
          <a:lstStyle/>
          <a:p>
            <a:endParaRPr lang="en-US"/>
          </a:p>
        </p:txBody>
      </p:sp>
      <p:sp>
        <p:nvSpPr>
          <p:cNvPr id="22" name="Text 18"/>
          <p:cNvSpPr/>
          <p:nvPr/>
        </p:nvSpPr>
        <p:spPr>
          <a:xfrm>
            <a:off x="640080" y="4818888"/>
            <a:ext cx="566928" cy="56692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19"/>
          <p:cNvSpPr/>
          <p:nvPr/>
        </p:nvSpPr>
        <p:spPr>
          <a:xfrm>
            <a:off x="1371600" y="4818888"/>
            <a:ext cx="5303520" cy="566928"/>
          </a:xfrm>
          <a:prstGeom prst="rect">
            <a:avLst/>
          </a:prstGeom>
          <a:noFill/>
          <a:ln/>
        </p:spPr>
        <p:txBody>
          <a:bodyPr wrap="square" rtlCol="0" anchor="ctr"/>
          <a:lstStyle/>
          <a:p>
            <a:pPr marL="0" indent="0">
              <a:buNone/>
            </a:pPr>
            <a:r>
              <a:rPr lang="en-US" sz="1500" dirty="0">
                <a:solidFill>
                  <a:srgbClr val="1B2A1B"/>
                </a:solidFill>
                <a:latin typeface="Calibri" pitchFamily="34" charset="0"/>
                <a:ea typeface="Calibri" pitchFamily="34" charset="-122"/>
                <a:cs typeface="Calibri" pitchFamily="34" charset="-120"/>
              </a:rPr>
              <a:t>Clan leaderboard</a:t>
            </a:r>
            <a:endParaRPr lang="en-US" sz="1500" dirty="0"/>
          </a:p>
        </p:txBody>
      </p:sp>
      <p:sp>
        <p:nvSpPr>
          <p:cNvPr id="24" name="Shape 20"/>
          <p:cNvSpPr/>
          <p:nvPr/>
        </p:nvSpPr>
        <p:spPr>
          <a:xfrm>
            <a:off x="640080" y="5495544"/>
            <a:ext cx="566928" cy="566928"/>
          </a:xfrm>
          <a:prstGeom prst="ellipse">
            <a:avLst/>
          </a:prstGeom>
          <a:solidFill>
            <a:srgbClr val="E8A33D"/>
          </a:solidFill>
          <a:ln/>
        </p:spPr>
        <p:txBody>
          <a:bodyPr/>
          <a:lstStyle/>
          <a:p>
            <a:endParaRPr lang="en-US"/>
          </a:p>
        </p:txBody>
      </p:sp>
      <p:sp>
        <p:nvSpPr>
          <p:cNvPr id="25" name="Text 21"/>
          <p:cNvSpPr/>
          <p:nvPr/>
        </p:nvSpPr>
        <p:spPr>
          <a:xfrm>
            <a:off x="640080" y="5495544"/>
            <a:ext cx="566928" cy="566928"/>
          </a:xfrm>
          <a:prstGeom prst="rect">
            <a:avLst/>
          </a:prstGeom>
          <a:noFill/>
          <a:ln/>
        </p:spPr>
        <p:txBody>
          <a:bodyPr wrap="square" rtlCol="0" anchor="ctr"/>
          <a:lstStyle/>
          <a:p>
            <a:pPr marL="0" indent="0" algn="ctr">
              <a:buNone/>
            </a:pPr>
            <a:r>
              <a:rPr lang="en-US" sz="1600" b="1" dirty="0">
                <a:solidFill>
                  <a:srgbClr val="1C3D1D"/>
                </a:solidFill>
                <a:latin typeface="Calibri" pitchFamily="34" charset="0"/>
                <a:ea typeface="Calibri" pitchFamily="34" charset="-122"/>
                <a:cs typeface="Calibri" pitchFamily="34" charset="-120"/>
              </a:rPr>
              <a:t>5</a:t>
            </a:r>
            <a:endParaRPr lang="en-US" sz="1600" dirty="0"/>
          </a:p>
        </p:txBody>
      </p:sp>
      <p:sp>
        <p:nvSpPr>
          <p:cNvPr id="26" name="Text 22"/>
          <p:cNvSpPr/>
          <p:nvPr/>
        </p:nvSpPr>
        <p:spPr>
          <a:xfrm>
            <a:off x="1371600" y="5495544"/>
            <a:ext cx="5303520" cy="566928"/>
          </a:xfrm>
          <a:prstGeom prst="rect">
            <a:avLst/>
          </a:prstGeom>
          <a:noFill/>
          <a:ln/>
        </p:spPr>
        <p:txBody>
          <a:bodyPr wrap="square"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Backoffice: approve an activity</a:t>
            </a:r>
            <a:endParaRPr lang="en-US" sz="1500" dirty="0"/>
          </a:p>
        </p:txBody>
      </p:sp>
      <p:sp>
        <p:nvSpPr>
          <p:cNvPr id="27" name="Shape 23"/>
          <p:cNvSpPr/>
          <p:nvPr/>
        </p:nvSpPr>
        <p:spPr>
          <a:xfrm>
            <a:off x="7040880" y="2788920"/>
            <a:ext cx="4480560" cy="3246120"/>
          </a:xfrm>
          <a:prstGeom prst="roundRect">
            <a:avLst>
              <a:gd name="adj" fmla="val 2817"/>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28" name="Shape 24"/>
          <p:cNvSpPr/>
          <p:nvPr/>
        </p:nvSpPr>
        <p:spPr>
          <a:xfrm>
            <a:off x="7360920" y="3108960"/>
            <a:ext cx="777240" cy="777240"/>
          </a:xfrm>
          <a:prstGeom prst="ellipse">
            <a:avLst/>
          </a:prstGeom>
          <a:solidFill>
            <a:srgbClr val="E8A33D"/>
          </a:solidFill>
          <a:ln/>
        </p:spPr>
        <p:txBody>
          <a:bodyPr/>
          <a:lstStyle/>
          <a:p>
            <a:endParaRPr lang="en-US"/>
          </a:p>
        </p:txBody>
      </p:sp>
      <p:pic>
        <p:nvPicPr>
          <p:cNvPr id="29" name="Image 2" descr="preencoded.png"/>
          <p:cNvPicPr>
            <a:picLocks noChangeAspect="1"/>
          </p:cNvPicPr>
          <p:nvPr/>
        </p:nvPicPr>
        <p:blipFill>
          <a:blip r:embed="rId5"/>
          <a:stretch>
            <a:fillRect/>
          </a:stretch>
        </p:blipFill>
        <p:spPr>
          <a:xfrm>
            <a:off x="7563002" y="3311042"/>
            <a:ext cx="373075" cy="373075"/>
          </a:xfrm>
          <a:prstGeom prst="rect">
            <a:avLst/>
          </a:prstGeom>
        </p:spPr>
      </p:pic>
      <p:sp>
        <p:nvSpPr>
          <p:cNvPr id="30" name="Text 25"/>
          <p:cNvSpPr/>
          <p:nvPr/>
        </p:nvSpPr>
        <p:spPr>
          <a:xfrm>
            <a:off x="8366760" y="3154680"/>
            <a:ext cx="2926080" cy="457200"/>
          </a:xfrm>
          <a:prstGeom prst="rect">
            <a:avLst/>
          </a:prstGeom>
          <a:noFill/>
          <a:ln/>
        </p:spPr>
        <p:txBody>
          <a:bodyPr wrap="square" rtlCol="0" anchor="ctr"/>
          <a:lstStyle/>
          <a:p>
            <a:pPr marL="0" indent="0">
              <a:buNone/>
            </a:pPr>
            <a:r>
              <a:rPr lang="en-US" sz="1800" b="1" dirty="0">
                <a:solidFill>
                  <a:srgbClr val="2C5F2D"/>
                </a:solidFill>
                <a:latin typeface="Calibri" pitchFamily="34" charset="0"/>
                <a:ea typeface="Calibri" pitchFamily="34" charset="-122"/>
                <a:cs typeface="Calibri" pitchFamily="34" charset="-120"/>
              </a:rPr>
              <a:t>The moment</a:t>
            </a:r>
            <a:endParaRPr lang="en-US" sz="1800" dirty="0"/>
          </a:p>
        </p:txBody>
      </p:sp>
      <p:sp>
        <p:nvSpPr>
          <p:cNvPr id="31" name="Text 26"/>
          <p:cNvSpPr/>
          <p:nvPr/>
        </p:nvSpPr>
        <p:spPr>
          <a:xfrm>
            <a:off x="7360920" y="4114800"/>
            <a:ext cx="3840480" cy="1371600"/>
          </a:xfrm>
          <a:prstGeom prst="rect">
            <a:avLst/>
          </a:prstGeom>
          <a:noFill/>
          <a:ln/>
        </p:spPr>
        <p:txBody>
          <a:bodyPr wrap="square" rtlCol="0" anchor="ctr"/>
          <a:lstStyle/>
          <a:p>
            <a:pPr marL="0" indent="0">
              <a:buNone/>
            </a:pPr>
            <a:r>
              <a:rPr lang="en-US" sz="1500" dirty="0">
                <a:solidFill>
                  <a:srgbClr val="1B2A1B"/>
                </a:solidFill>
                <a:latin typeface="Calibri" pitchFamily="34" charset="0"/>
                <a:ea typeface="Calibri" pitchFamily="34" charset="-122"/>
                <a:cs typeface="Calibri" pitchFamily="34" charset="-120"/>
              </a:rPr>
              <a:t>A manager submitted this activity — it's pending. I approve it… and it's now published in the public catalog. End to end, live.</a:t>
            </a:r>
            <a:endParaRPr lang="en-US" sz="1500" dirty="0"/>
          </a:p>
        </p:txBody>
      </p:sp>
      <p:sp>
        <p:nvSpPr>
          <p:cNvPr id="32" name="Text 27"/>
          <p:cNvSpPr/>
          <p:nvPr/>
        </p:nvSpPr>
        <p:spPr>
          <a:xfrm>
            <a:off x="7360920" y="5486400"/>
            <a:ext cx="3840480" cy="457200"/>
          </a:xfrm>
          <a:prstGeom prst="rect">
            <a:avLst/>
          </a:prstGeom>
          <a:noFill/>
          <a:ln/>
        </p:spPr>
        <p:txBody>
          <a:bodyPr wrap="square" rtlCol="0" anchor="ctr"/>
          <a:lstStyle/>
          <a:p>
            <a:pPr marL="0" indent="0">
              <a:buNone/>
            </a:pPr>
            <a:r>
              <a:rPr lang="en-US" sz="1150" i="1" dirty="0">
                <a:solidFill>
                  <a:srgbClr val="5C6B57"/>
                </a:solidFill>
                <a:latin typeface="Calibri" pitchFamily="34" charset="0"/>
                <a:ea typeface="Calibri" pitchFamily="34" charset="-122"/>
                <a:cs typeface="Calibri" pitchFamily="34" charset="-120"/>
              </a:rPr>
              <a:t>React + Vite · role-aware routing · deployed as a cloud service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3D1D"/>
        </a:solidFill>
        <a:effectLst/>
      </p:bgPr>
    </p:bg>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ellipse">
            <a:avLst/>
          </a:prstGeom>
          <a:solidFill>
            <a:srgbClr val="97BC62"/>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854050" y="671170"/>
            <a:ext cx="395021" cy="395021"/>
          </a:xfrm>
          <a:prstGeom prst="rect">
            <a:avLst/>
          </a:prstGeom>
        </p:spPr>
      </p:pic>
      <p:sp>
        <p:nvSpPr>
          <p:cNvPr id="4" name="Text 1"/>
          <p:cNvSpPr/>
          <p:nvPr/>
        </p:nvSpPr>
        <p:spPr>
          <a:xfrm>
            <a:off x="1600200" y="457200"/>
            <a:ext cx="8229600" cy="777240"/>
          </a:xfrm>
          <a:prstGeom prst="rect">
            <a:avLst/>
          </a:prstGeom>
          <a:noFill/>
          <a:ln/>
        </p:spPr>
        <p:txBody>
          <a:bodyPr wrap="square" rtlCol="0" anchor="ctr"/>
          <a:lstStyle/>
          <a:p>
            <a:pPr marL="0" indent="0">
              <a:buNone/>
            </a:pPr>
            <a:r>
              <a:rPr lang="en-US" sz="3400" b="1" dirty="0">
                <a:solidFill>
                  <a:srgbClr val="FFFFFF"/>
                </a:solidFill>
                <a:latin typeface="Bookman Old Style" pitchFamily="34" charset="0"/>
                <a:ea typeface="Bookman Old Style" pitchFamily="34" charset="-122"/>
                <a:cs typeface="Bookman Old Style" pitchFamily="34" charset="-120"/>
              </a:rPr>
              <a:t>Mobile app — live demo</a:t>
            </a:r>
            <a:endParaRPr lang="en-US" sz="3400" dirty="0"/>
          </a:p>
        </p:txBody>
      </p:sp>
      <p:sp>
        <p:nvSpPr>
          <p:cNvPr id="5" name="Shape 2"/>
          <p:cNvSpPr/>
          <p:nvPr/>
        </p:nvSpPr>
        <p:spPr>
          <a:xfrm>
            <a:off x="10332720" y="566928"/>
            <a:ext cx="1188720" cy="548640"/>
          </a:xfrm>
          <a:prstGeom prst="roundRect">
            <a:avLst>
              <a:gd name="adj" fmla="val 48333"/>
            </a:avLst>
          </a:prstGeom>
          <a:solidFill>
            <a:srgbClr val="E8A33D"/>
          </a:solidFill>
          <a:ln/>
        </p:spPr>
        <p:txBody>
          <a:bodyPr/>
          <a:lstStyle/>
          <a:p>
            <a:endParaRPr lang="en-US"/>
          </a:p>
        </p:txBody>
      </p:sp>
      <p:sp>
        <p:nvSpPr>
          <p:cNvPr id="6" name="Text 3"/>
          <p:cNvSpPr/>
          <p:nvPr/>
        </p:nvSpPr>
        <p:spPr>
          <a:xfrm>
            <a:off x="10332720" y="566928"/>
            <a:ext cx="1188720" cy="548640"/>
          </a:xfrm>
          <a:prstGeom prst="rect">
            <a:avLst/>
          </a:prstGeom>
          <a:noFill/>
          <a:ln/>
        </p:spPr>
        <p:txBody>
          <a:bodyPr wrap="square" rtlCol="0" anchor="ctr"/>
          <a:lstStyle/>
          <a:p>
            <a:pPr marL="0" indent="0" algn="ctr">
              <a:buNone/>
            </a:pPr>
            <a:r>
              <a:rPr lang="en-US" sz="1800" b="1" dirty="0">
                <a:solidFill>
                  <a:srgbClr val="1C3D1D"/>
                </a:solidFill>
                <a:latin typeface="Calibri" pitchFamily="34" charset="0"/>
                <a:ea typeface="Calibri" pitchFamily="34" charset="-122"/>
                <a:cs typeface="Calibri" pitchFamily="34" charset="-120"/>
              </a:rPr>
              <a:t>(e)</a:t>
            </a:r>
            <a:endParaRPr lang="en-US" sz="1800" dirty="0"/>
          </a:p>
        </p:txBody>
      </p:sp>
      <p:sp>
        <p:nvSpPr>
          <p:cNvPr id="7" name="Text 4"/>
          <p:cNvSpPr/>
          <p:nvPr/>
        </p:nvSpPr>
        <p:spPr>
          <a:xfrm>
            <a:off x="640080" y="1417320"/>
            <a:ext cx="10515600" cy="457200"/>
          </a:xfrm>
          <a:prstGeom prst="rect">
            <a:avLst/>
          </a:prstGeom>
          <a:noFill/>
          <a:ln/>
        </p:spPr>
        <p:txBody>
          <a:bodyPr wrap="square" rtlCol="0" anchor="ctr"/>
          <a:lstStyle/>
          <a:p>
            <a:pPr marL="0" indent="0">
              <a:buNone/>
            </a:pPr>
            <a:r>
              <a:rPr lang="en-US" sz="1600" i="1" dirty="0">
                <a:solidFill>
                  <a:srgbClr val="C9DCA3"/>
                </a:solidFill>
                <a:latin typeface="Calibri" pitchFamily="34" charset="0"/>
                <a:ea typeface="Calibri" pitchFamily="34" charset="-122"/>
                <a:cs typeface="Calibri" pitchFamily="34" charset="-120"/>
              </a:rPr>
              <a:t>Flutter · Android · running on the emulator now · APK build-ready</a:t>
            </a:r>
            <a:endParaRPr lang="en-US" sz="1600" dirty="0"/>
          </a:p>
        </p:txBody>
      </p:sp>
      <p:sp>
        <p:nvSpPr>
          <p:cNvPr id="8" name="Text 5"/>
          <p:cNvSpPr/>
          <p:nvPr/>
        </p:nvSpPr>
        <p:spPr>
          <a:xfrm>
            <a:off x="640080" y="2057400"/>
            <a:ext cx="3657600" cy="365760"/>
          </a:xfrm>
          <a:prstGeom prst="rect">
            <a:avLst/>
          </a:prstGeom>
          <a:noFill/>
          <a:ln/>
        </p:spPr>
        <p:txBody>
          <a:bodyPr wrap="square"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5 tabs</a:t>
            </a:r>
            <a:endParaRPr lang="en-US" sz="1600" dirty="0"/>
          </a:p>
        </p:txBody>
      </p:sp>
      <p:sp>
        <p:nvSpPr>
          <p:cNvPr id="9" name="Shape 6"/>
          <p:cNvSpPr/>
          <p:nvPr/>
        </p:nvSpPr>
        <p:spPr>
          <a:xfrm>
            <a:off x="640080" y="2514600"/>
            <a:ext cx="2103120" cy="1828800"/>
          </a:xfrm>
          <a:prstGeom prst="roundRect">
            <a:avLst>
              <a:gd name="adj" fmla="val 6000"/>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0" name="Shape 7"/>
          <p:cNvSpPr/>
          <p:nvPr/>
        </p:nvSpPr>
        <p:spPr>
          <a:xfrm>
            <a:off x="1257300" y="2880360"/>
            <a:ext cx="868680" cy="868680"/>
          </a:xfrm>
          <a:prstGeom prst="ellipse">
            <a:avLst/>
          </a:prstGeom>
          <a:solidFill>
            <a:srgbClr val="97BC62"/>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1483157" y="3106217"/>
            <a:ext cx="416966" cy="416966"/>
          </a:xfrm>
          <a:prstGeom prst="rect">
            <a:avLst/>
          </a:prstGeom>
        </p:spPr>
      </p:pic>
      <p:sp>
        <p:nvSpPr>
          <p:cNvPr id="12" name="Text 8"/>
          <p:cNvSpPr/>
          <p:nvPr/>
        </p:nvSpPr>
        <p:spPr>
          <a:xfrm>
            <a:off x="640080" y="3840480"/>
            <a:ext cx="21031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Feed</a:t>
            </a:r>
            <a:endParaRPr lang="en-US" sz="1600" dirty="0"/>
          </a:p>
        </p:txBody>
      </p:sp>
      <p:sp>
        <p:nvSpPr>
          <p:cNvPr id="13" name="Shape 9"/>
          <p:cNvSpPr/>
          <p:nvPr/>
        </p:nvSpPr>
        <p:spPr>
          <a:xfrm>
            <a:off x="2880360" y="2514600"/>
            <a:ext cx="2103120" cy="1828800"/>
          </a:xfrm>
          <a:prstGeom prst="roundRect">
            <a:avLst>
              <a:gd name="adj" fmla="val 6000"/>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4" name="Shape 10"/>
          <p:cNvSpPr/>
          <p:nvPr/>
        </p:nvSpPr>
        <p:spPr>
          <a:xfrm>
            <a:off x="3497580" y="2880360"/>
            <a:ext cx="868680" cy="868680"/>
          </a:xfrm>
          <a:prstGeom prst="ellipse">
            <a:avLst/>
          </a:prstGeom>
          <a:solidFill>
            <a:srgbClr val="97BC62"/>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723437" y="3106217"/>
            <a:ext cx="416966" cy="416966"/>
          </a:xfrm>
          <a:prstGeom prst="rect">
            <a:avLst/>
          </a:prstGeom>
        </p:spPr>
      </p:pic>
      <p:sp>
        <p:nvSpPr>
          <p:cNvPr id="16" name="Text 11"/>
          <p:cNvSpPr/>
          <p:nvPr/>
        </p:nvSpPr>
        <p:spPr>
          <a:xfrm>
            <a:off x="2880360" y="3840480"/>
            <a:ext cx="21031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Volunteer</a:t>
            </a:r>
            <a:endParaRPr lang="en-US" sz="1600" dirty="0"/>
          </a:p>
        </p:txBody>
      </p:sp>
      <p:sp>
        <p:nvSpPr>
          <p:cNvPr id="17" name="Shape 12"/>
          <p:cNvSpPr/>
          <p:nvPr/>
        </p:nvSpPr>
        <p:spPr>
          <a:xfrm>
            <a:off x="5120640" y="2514600"/>
            <a:ext cx="2103120" cy="1828800"/>
          </a:xfrm>
          <a:prstGeom prst="roundRect">
            <a:avLst>
              <a:gd name="adj" fmla="val 6000"/>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18" name="Shape 13"/>
          <p:cNvSpPr/>
          <p:nvPr/>
        </p:nvSpPr>
        <p:spPr>
          <a:xfrm>
            <a:off x="5737860" y="2880360"/>
            <a:ext cx="868680" cy="868680"/>
          </a:xfrm>
          <a:prstGeom prst="ellipse">
            <a:avLst/>
          </a:prstGeom>
          <a:solidFill>
            <a:srgbClr val="97BC62"/>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5963717" y="3106217"/>
            <a:ext cx="416966" cy="416966"/>
          </a:xfrm>
          <a:prstGeom prst="rect">
            <a:avLst/>
          </a:prstGeom>
        </p:spPr>
      </p:pic>
      <p:sp>
        <p:nvSpPr>
          <p:cNvPr id="20" name="Text 14"/>
          <p:cNvSpPr/>
          <p:nvPr/>
        </p:nvSpPr>
        <p:spPr>
          <a:xfrm>
            <a:off x="5120640" y="3840480"/>
            <a:ext cx="21031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Find (map)</a:t>
            </a:r>
            <a:endParaRPr lang="en-US" sz="1600" dirty="0"/>
          </a:p>
        </p:txBody>
      </p:sp>
      <p:sp>
        <p:nvSpPr>
          <p:cNvPr id="21" name="Shape 15"/>
          <p:cNvSpPr/>
          <p:nvPr/>
        </p:nvSpPr>
        <p:spPr>
          <a:xfrm>
            <a:off x="7360920" y="2514600"/>
            <a:ext cx="2103120" cy="1828800"/>
          </a:xfrm>
          <a:prstGeom prst="roundRect">
            <a:avLst>
              <a:gd name="adj" fmla="val 6000"/>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22" name="Shape 16"/>
          <p:cNvSpPr/>
          <p:nvPr/>
        </p:nvSpPr>
        <p:spPr>
          <a:xfrm>
            <a:off x="7978140" y="2880360"/>
            <a:ext cx="868680" cy="868680"/>
          </a:xfrm>
          <a:prstGeom prst="ellipse">
            <a:avLst/>
          </a:prstGeom>
          <a:solidFill>
            <a:srgbClr val="97BC62"/>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8203997" y="3106217"/>
            <a:ext cx="416966" cy="416966"/>
          </a:xfrm>
          <a:prstGeom prst="rect">
            <a:avLst/>
          </a:prstGeom>
        </p:spPr>
      </p:pic>
      <p:sp>
        <p:nvSpPr>
          <p:cNvPr id="24" name="Text 17"/>
          <p:cNvSpPr/>
          <p:nvPr/>
        </p:nvSpPr>
        <p:spPr>
          <a:xfrm>
            <a:off x="7360920" y="3840480"/>
            <a:ext cx="21031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Clan</a:t>
            </a:r>
            <a:endParaRPr lang="en-US" sz="1600" dirty="0"/>
          </a:p>
        </p:txBody>
      </p:sp>
      <p:sp>
        <p:nvSpPr>
          <p:cNvPr id="25" name="Shape 18"/>
          <p:cNvSpPr/>
          <p:nvPr/>
        </p:nvSpPr>
        <p:spPr>
          <a:xfrm>
            <a:off x="9601200" y="2514600"/>
            <a:ext cx="2103120" cy="1828800"/>
          </a:xfrm>
          <a:prstGeom prst="roundRect">
            <a:avLst>
              <a:gd name="adj" fmla="val 6000"/>
            </a:avLst>
          </a:prstGeom>
          <a:solidFill>
            <a:srgbClr val="2C5F2D"/>
          </a:solidFill>
          <a:ln/>
          <a:effectLst>
            <a:outerShdw blurRad="101600" dist="38100" dir="5400000" algn="bl" rotWithShape="0">
              <a:srgbClr val="000000">
                <a:alpha val="12000"/>
              </a:srgbClr>
            </a:outerShdw>
          </a:effectLst>
        </p:spPr>
        <p:txBody>
          <a:bodyPr/>
          <a:lstStyle/>
          <a:p>
            <a:endParaRPr lang="en-US"/>
          </a:p>
        </p:txBody>
      </p:sp>
      <p:sp>
        <p:nvSpPr>
          <p:cNvPr id="26" name="Shape 19"/>
          <p:cNvSpPr/>
          <p:nvPr/>
        </p:nvSpPr>
        <p:spPr>
          <a:xfrm>
            <a:off x="10218420" y="2880360"/>
            <a:ext cx="868680" cy="868680"/>
          </a:xfrm>
          <a:prstGeom prst="ellipse">
            <a:avLst/>
          </a:prstGeom>
          <a:solidFill>
            <a:srgbClr val="97BC62"/>
          </a:solidFill>
          <a:ln/>
        </p:spPr>
        <p:txBody>
          <a:bodyPr/>
          <a:lstStyle/>
          <a:p>
            <a:endParaRPr lang="en-US"/>
          </a:p>
        </p:txBody>
      </p:sp>
      <p:pic>
        <p:nvPicPr>
          <p:cNvPr id="27" name="Image 5" descr="preencoded.png"/>
          <p:cNvPicPr>
            <a:picLocks noChangeAspect="1"/>
          </p:cNvPicPr>
          <p:nvPr/>
        </p:nvPicPr>
        <p:blipFill>
          <a:blip r:embed="rId8"/>
          <a:stretch>
            <a:fillRect/>
          </a:stretch>
        </p:blipFill>
        <p:spPr>
          <a:xfrm>
            <a:off x="10444277" y="3106217"/>
            <a:ext cx="416966" cy="416966"/>
          </a:xfrm>
          <a:prstGeom prst="rect">
            <a:avLst/>
          </a:prstGeom>
        </p:spPr>
      </p:pic>
      <p:sp>
        <p:nvSpPr>
          <p:cNvPr id="28" name="Text 20"/>
          <p:cNvSpPr/>
          <p:nvPr/>
        </p:nvSpPr>
        <p:spPr>
          <a:xfrm>
            <a:off x="9601200" y="3840480"/>
            <a:ext cx="21031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Profile</a:t>
            </a:r>
            <a:endParaRPr lang="en-US" sz="1600" dirty="0"/>
          </a:p>
        </p:txBody>
      </p:sp>
      <p:sp>
        <p:nvSpPr>
          <p:cNvPr id="29" name="Shape 21"/>
          <p:cNvSpPr/>
          <p:nvPr/>
        </p:nvSpPr>
        <p:spPr>
          <a:xfrm>
            <a:off x="640080" y="4754880"/>
            <a:ext cx="10881360" cy="1371600"/>
          </a:xfrm>
          <a:prstGeom prst="roundRect">
            <a:avLst>
              <a:gd name="adj" fmla="val 6667"/>
            </a:avLst>
          </a:prstGeom>
          <a:solidFill>
            <a:srgbClr val="2C5F2D"/>
          </a:solidFill>
          <a:ln/>
        </p:spPr>
        <p:txBody>
          <a:bodyPr/>
          <a:lstStyle/>
          <a:p>
            <a:endParaRPr lang="en-US"/>
          </a:p>
        </p:txBody>
      </p:sp>
      <p:sp>
        <p:nvSpPr>
          <p:cNvPr id="30" name="Shape 22"/>
          <p:cNvSpPr/>
          <p:nvPr/>
        </p:nvSpPr>
        <p:spPr>
          <a:xfrm>
            <a:off x="914400" y="5074920"/>
            <a:ext cx="731520" cy="731520"/>
          </a:xfrm>
          <a:prstGeom prst="ellipse">
            <a:avLst/>
          </a:prstGeom>
          <a:solidFill>
            <a:srgbClr val="E8A33D"/>
          </a:solidFill>
          <a:ln/>
        </p:spPr>
        <p:txBody>
          <a:bodyPr/>
          <a:lstStyle/>
          <a:p>
            <a:endParaRPr lang="en-US"/>
          </a:p>
        </p:txBody>
      </p:sp>
      <p:pic>
        <p:nvPicPr>
          <p:cNvPr id="31" name="Image 6" descr="preencoded.png"/>
          <p:cNvPicPr>
            <a:picLocks noChangeAspect="1"/>
          </p:cNvPicPr>
          <p:nvPr/>
        </p:nvPicPr>
        <p:blipFill>
          <a:blip r:embed="rId9"/>
          <a:stretch>
            <a:fillRect/>
          </a:stretch>
        </p:blipFill>
        <p:spPr>
          <a:xfrm>
            <a:off x="1104595" y="5265115"/>
            <a:ext cx="351130" cy="351130"/>
          </a:xfrm>
          <a:prstGeom prst="rect">
            <a:avLst/>
          </a:prstGeom>
        </p:spPr>
      </p:pic>
      <p:sp>
        <p:nvSpPr>
          <p:cNvPr id="32" name="Text 23"/>
          <p:cNvSpPr/>
          <p:nvPr/>
        </p:nvSpPr>
        <p:spPr>
          <a:xfrm>
            <a:off x="1920240" y="4754880"/>
            <a:ext cx="9326880" cy="1371600"/>
          </a:xfrm>
          <a:prstGeom prst="rect">
            <a:avLst/>
          </a:prstGeom>
          <a:noFill/>
          <a:ln/>
        </p:spPr>
        <p:txBody>
          <a:bodyPr wrap="square" rtlCol="0" anchor="ctr"/>
          <a:lstStyle/>
          <a:p>
            <a:pPr marL="0" indent="0">
              <a:spcAft>
                <a:spcPts val="400"/>
              </a:spcAft>
              <a:buNone/>
            </a:pPr>
            <a:r>
              <a:rPr lang="en-US" sz="1800" b="1" dirty="0">
                <a:solidFill>
                  <a:srgbClr val="FFFFFF"/>
                </a:solidFill>
                <a:latin typeface="Calibri" pitchFamily="34" charset="0"/>
                <a:ea typeface="Calibri" pitchFamily="34" charset="-122"/>
                <a:cs typeface="Calibri" pitchFamily="34" charset="-120"/>
              </a:rPr>
              <a:t>Branded &amp; native</a:t>
            </a:r>
            <a:endParaRPr lang="en-US" sz="1800" dirty="0"/>
          </a:p>
          <a:p>
            <a:pPr marL="0" indent="0">
              <a:spcAft>
                <a:spcPts val="400"/>
              </a:spcAft>
              <a:buNone/>
            </a:pPr>
            <a:r>
              <a:rPr lang="en-US" sz="1400" dirty="0">
                <a:solidFill>
                  <a:srgbClr val="C9DCA3"/>
                </a:solidFill>
                <a:latin typeface="Calibri" pitchFamily="34" charset="0"/>
                <a:ea typeface="Calibri" pitchFamily="34" charset="-122"/>
                <a:cs typeface="Calibri" pitchFamily="34" charset="-120"/>
              </a:rPr>
              <a:t>Native splash screen + adaptive launcher icon · shares the exact same backend as the web app · packaged as an installable APK.</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0"/>
        </a:solidFill>
        <a:effectLst/>
      </p:bgPr>
    </p:bg>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ellipse">
            <a:avLst/>
          </a:prstGeom>
          <a:solidFill>
            <a:srgbClr val="2C5F2D"/>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854050" y="671170"/>
            <a:ext cx="395021" cy="395021"/>
          </a:xfrm>
          <a:prstGeom prst="rect">
            <a:avLst/>
          </a:prstGeom>
        </p:spPr>
      </p:pic>
      <p:sp>
        <p:nvSpPr>
          <p:cNvPr id="4" name="Text 1"/>
          <p:cNvSpPr/>
          <p:nvPr/>
        </p:nvSpPr>
        <p:spPr>
          <a:xfrm>
            <a:off x="1600200" y="457200"/>
            <a:ext cx="8229600" cy="777240"/>
          </a:xfrm>
          <a:prstGeom prst="rect">
            <a:avLst/>
          </a:prstGeom>
          <a:noFill/>
          <a:ln/>
        </p:spPr>
        <p:txBody>
          <a:bodyPr wrap="square" rtlCol="0" anchor="ctr"/>
          <a:lstStyle/>
          <a:p>
            <a:pPr marL="0" indent="0">
              <a:buNone/>
            </a:pPr>
            <a:r>
              <a:rPr lang="en-US" sz="3200" b="1" dirty="0">
                <a:solidFill>
                  <a:srgbClr val="2C5F2D"/>
                </a:solidFill>
                <a:latin typeface="Bookman Old Style" pitchFamily="34" charset="0"/>
                <a:ea typeface="Bookman Old Style" pitchFamily="34" charset="-122"/>
                <a:cs typeface="Bookman Old Style" pitchFamily="34" charset="-120"/>
              </a:rPr>
              <a:t>Gamification &amp; engagement</a:t>
            </a:r>
            <a:endParaRPr lang="en-US" sz="3200" dirty="0"/>
          </a:p>
        </p:txBody>
      </p:sp>
      <p:sp>
        <p:nvSpPr>
          <p:cNvPr id="5" name="Shape 2"/>
          <p:cNvSpPr/>
          <p:nvPr/>
        </p:nvSpPr>
        <p:spPr>
          <a:xfrm>
            <a:off x="10332720" y="566928"/>
            <a:ext cx="1188720" cy="548640"/>
          </a:xfrm>
          <a:prstGeom prst="roundRect">
            <a:avLst>
              <a:gd name="adj" fmla="val 48333"/>
            </a:avLst>
          </a:prstGeom>
          <a:solidFill>
            <a:srgbClr val="E8A33D"/>
          </a:solidFill>
          <a:ln/>
        </p:spPr>
        <p:txBody>
          <a:bodyPr/>
          <a:lstStyle/>
          <a:p>
            <a:endParaRPr lang="en-US"/>
          </a:p>
        </p:txBody>
      </p:sp>
      <p:sp>
        <p:nvSpPr>
          <p:cNvPr id="6" name="Text 3"/>
          <p:cNvSpPr/>
          <p:nvPr/>
        </p:nvSpPr>
        <p:spPr>
          <a:xfrm>
            <a:off x="10332720" y="566928"/>
            <a:ext cx="1188720" cy="548640"/>
          </a:xfrm>
          <a:prstGeom prst="rect">
            <a:avLst/>
          </a:prstGeom>
          <a:noFill/>
          <a:ln/>
        </p:spPr>
        <p:txBody>
          <a:bodyPr wrap="square" rtlCol="0" anchor="ctr"/>
          <a:lstStyle/>
          <a:p>
            <a:pPr marL="0" indent="0" algn="ctr">
              <a:buNone/>
            </a:pPr>
            <a:r>
              <a:rPr lang="en-US" sz="1800" b="1" dirty="0">
                <a:solidFill>
                  <a:srgbClr val="1C3D1D"/>
                </a:solidFill>
                <a:latin typeface="Calibri" pitchFamily="34" charset="0"/>
                <a:ea typeface="Calibri" pitchFamily="34" charset="-122"/>
                <a:cs typeface="Calibri" pitchFamily="34" charset="-120"/>
              </a:rPr>
              <a:t>(f)</a:t>
            </a:r>
            <a:endParaRPr lang="en-US" sz="1800" dirty="0"/>
          </a:p>
        </p:txBody>
      </p:sp>
      <p:sp>
        <p:nvSpPr>
          <p:cNvPr id="7" name="Text 4"/>
          <p:cNvSpPr/>
          <p:nvPr/>
        </p:nvSpPr>
        <p:spPr>
          <a:xfrm>
            <a:off x="640080" y="1371600"/>
            <a:ext cx="10515600" cy="411480"/>
          </a:xfrm>
          <a:prstGeom prst="rect">
            <a:avLst/>
          </a:prstGeom>
          <a:noFill/>
          <a:ln/>
        </p:spPr>
        <p:txBody>
          <a:bodyPr wrap="square" rtlCol="0" anchor="ctr"/>
          <a:lstStyle/>
          <a:p>
            <a:pPr marL="0" indent="0">
              <a:buNone/>
            </a:pPr>
            <a:r>
              <a:rPr lang="en-US" sz="1600" i="1" dirty="0">
                <a:solidFill>
                  <a:srgbClr val="5C6B57"/>
                </a:solidFill>
                <a:latin typeface="Calibri" pitchFamily="34" charset="0"/>
                <a:ea typeface="Calibri" pitchFamily="34" charset="-122"/>
                <a:cs typeface="Calibri" pitchFamily="34" charset="-120"/>
              </a:rPr>
              <a:t>The “why come back” — the hooks that drive adhesion</a:t>
            </a:r>
            <a:endParaRPr lang="en-US" sz="1600" dirty="0"/>
          </a:p>
        </p:txBody>
      </p:sp>
      <p:sp>
        <p:nvSpPr>
          <p:cNvPr id="8" name="Shape 5"/>
          <p:cNvSpPr/>
          <p:nvPr/>
        </p:nvSpPr>
        <p:spPr>
          <a:xfrm>
            <a:off x="640080" y="1920240"/>
            <a:ext cx="5349240" cy="4114800"/>
          </a:xfrm>
          <a:prstGeom prst="roundRect">
            <a:avLst>
              <a:gd name="adj" fmla="val 2222"/>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9" name="Shape 6"/>
          <p:cNvSpPr/>
          <p:nvPr/>
        </p:nvSpPr>
        <p:spPr>
          <a:xfrm>
            <a:off x="914400" y="2194560"/>
            <a:ext cx="731520" cy="731520"/>
          </a:xfrm>
          <a:prstGeom prst="ellipse">
            <a:avLst/>
          </a:prstGeom>
          <a:solidFill>
            <a:srgbClr val="2C5F2D"/>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1104595" y="2384755"/>
            <a:ext cx="351130" cy="351130"/>
          </a:xfrm>
          <a:prstGeom prst="rect">
            <a:avLst/>
          </a:prstGeom>
        </p:spPr>
      </p:pic>
      <p:sp>
        <p:nvSpPr>
          <p:cNvPr id="11" name="Text 7"/>
          <p:cNvSpPr/>
          <p:nvPr/>
        </p:nvSpPr>
        <p:spPr>
          <a:xfrm>
            <a:off x="1828800" y="2240280"/>
            <a:ext cx="3931920" cy="640080"/>
          </a:xfrm>
          <a:prstGeom prst="rect">
            <a:avLst/>
          </a:prstGeom>
          <a:noFill/>
          <a:ln/>
        </p:spPr>
        <p:txBody>
          <a:bodyPr wrap="square" rtlCol="0" anchor="ctr"/>
          <a:lstStyle/>
          <a:p>
            <a:pPr marL="0" indent="0">
              <a:buNone/>
            </a:pPr>
            <a:r>
              <a:rPr lang="en-US" sz="1900" b="1" dirty="0">
                <a:solidFill>
                  <a:srgbClr val="2C5F2D"/>
                </a:solidFill>
                <a:latin typeface="Calibri" pitchFamily="34" charset="0"/>
                <a:ea typeface="Calibri" pitchFamily="34" charset="-122"/>
                <a:cs typeface="Calibri" pitchFamily="34" charset="-120"/>
              </a:rPr>
              <a:t>Clan leaderboard</a:t>
            </a:r>
            <a:endParaRPr lang="en-US" sz="1900" dirty="0"/>
          </a:p>
        </p:txBody>
      </p:sp>
      <p:sp>
        <p:nvSpPr>
          <p:cNvPr id="12" name="Text 8"/>
          <p:cNvSpPr/>
          <p:nvPr/>
        </p:nvSpPr>
        <p:spPr>
          <a:xfrm>
            <a:off x="914400" y="3063240"/>
            <a:ext cx="4846320" cy="365760"/>
          </a:xfrm>
          <a:prstGeom prst="rect">
            <a:avLst/>
          </a:prstGeom>
          <a:noFill/>
          <a:ln/>
        </p:spPr>
        <p:txBody>
          <a:bodyPr wrap="square" rtlCol="0" anchor="ctr"/>
          <a:lstStyle/>
          <a:p>
            <a:pPr marL="0" indent="0">
              <a:buNone/>
            </a:pPr>
            <a:r>
              <a:rPr lang="en-US" sz="1350" dirty="0">
                <a:solidFill>
                  <a:srgbClr val="5C6B57"/>
                </a:solidFill>
                <a:latin typeface="Calibri" pitchFamily="34" charset="0"/>
                <a:ea typeface="Calibri" pitchFamily="34" charset="-122"/>
                <a:cs typeface="Calibri" pitchFamily="34" charset="-120"/>
              </a:rPr>
              <a:t>Ranked 4 ways, with week-over-week trend:</a:t>
            </a:r>
            <a:endParaRPr lang="en-US" sz="1350" dirty="0"/>
          </a:p>
        </p:txBody>
      </p:sp>
      <p:sp>
        <p:nvSpPr>
          <p:cNvPr id="13" name="Shape 9"/>
          <p:cNvSpPr/>
          <p:nvPr/>
        </p:nvSpPr>
        <p:spPr>
          <a:xfrm>
            <a:off x="914400" y="3520440"/>
            <a:ext cx="4800600" cy="457200"/>
          </a:xfrm>
          <a:prstGeom prst="roundRect">
            <a:avLst>
              <a:gd name="adj" fmla="val 16000"/>
            </a:avLst>
          </a:prstGeom>
          <a:solidFill>
            <a:srgbClr val="F5F7F0"/>
          </a:solidFill>
          <a:ln/>
        </p:spPr>
        <p:txBody>
          <a:bodyPr/>
          <a:lstStyle/>
          <a:p>
            <a:endParaRPr lang="en-US"/>
          </a:p>
        </p:txBody>
      </p:sp>
      <p:sp>
        <p:nvSpPr>
          <p:cNvPr id="14" name="Shape 10"/>
          <p:cNvSpPr/>
          <p:nvPr/>
        </p:nvSpPr>
        <p:spPr>
          <a:xfrm>
            <a:off x="1051560" y="3611880"/>
            <a:ext cx="274320" cy="274320"/>
          </a:xfrm>
          <a:prstGeom prst="ellipse">
            <a:avLst/>
          </a:prstGeom>
          <a:solidFill>
            <a:srgbClr val="E8A33D"/>
          </a:solidFill>
          <a:ln/>
        </p:spPr>
        <p:txBody>
          <a:bodyPr/>
          <a:lstStyle/>
          <a:p>
            <a:endParaRPr lang="en-US"/>
          </a:p>
        </p:txBody>
      </p:sp>
      <p:sp>
        <p:nvSpPr>
          <p:cNvPr id="15" name="Text 11"/>
          <p:cNvSpPr/>
          <p:nvPr/>
        </p:nvSpPr>
        <p:spPr>
          <a:xfrm>
            <a:off x="1508760" y="3520440"/>
            <a:ext cx="4023360" cy="457200"/>
          </a:xfrm>
          <a:prstGeom prst="rect">
            <a:avLst/>
          </a:prstGeom>
          <a:noFill/>
          <a:ln/>
        </p:spPr>
        <p:txBody>
          <a:bodyPr wrap="square" rtlCol="0" anchor="ctr"/>
          <a:lstStyle/>
          <a:p>
            <a:pPr marL="0" indent="0">
              <a:buNone/>
            </a:pPr>
            <a:r>
              <a:rPr lang="en-US" sz="1400" b="1" dirty="0">
                <a:solidFill>
                  <a:srgbClr val="1B2A1B"/>
                </a:solidFill>
                <a:latin typeface="Calibri" pitchFamily="34" charset="0"/>
                <a:ea typeface="Calibri" pitchFamily="34" charset="-122"/>
                <a:cs typeface="Calibri" pitchFamily="34" charset="-120"/>
              </a:rPr>
              <a:t>Average pace</a:t>
            </a:r>
            <a:endParaRPr lang="en-US" sz="1400" dirty="0"/>
          </a:p>
        </p:txBody>
      </p:sp>
      <p:sp>
        <p:nvSpPr>
          <p:cNvPr id="16" name="Shape 12"/>
          <p:cNvSpPr/>
          <p:nvPr/>
        </p:nvSpPr>
        <p:spPr>
          <a:xfrm>
            <a:off x="914400" y="4087368"/>
            <a:ext cx="4800600" cy="457200"/>
          </a:xfrm>
          <a:prstGeom prst="roundRect">
            <a:avLst>
              <a:gd name="adj" fmla="val 16000"/>
            </a:avLst>
          </a:prstGeom>
          <a:solidFill>
            <a:srgbClr val="F5F7F0"/>
          </a:solidFill>
          <a:ln/>
        </p:spPr>
        <p:txBody>
          <a:bodyPr/>
          <a:lstStyle/>
          <a:p>
            <a:endParaRPr lang="en-US"/>
          </a:p>
        </p:txBody>
      </p:sp>
      <p:sp>
        <p:nvSpPr>
          <p:cNvPr id="17" name="Shape 13"/>
          <p:cNvSpPr/>
          <p:nvPr/>
        </p:nvSpPr>
        <p:spPr>
          <a:xfrm>
            <a:off x="1051560" y="4178808"/>
            <a:ext cx="274320" cy="274320"/>
          </a:xfrm>
          <a:prstGeom prst="ellipse">
            <a:avLst/>
          </a:prstGeom>
          <a:solidFill>
            <a:srgbClr val="E8A33D"/>
          </a:solidFill>
          <a:ln/>
        </p:spPr>
        <p:txBody>
          <a:bodyPr/>
          <a:lstStyle/>
          <a:p>
            <a:endParaRPr lang="en-US"/>
          </a:p>
        </p:txBody>
      </p:sp>
      <p:sp>
        <p:nvSpPr>
          <p:cNvPr id="18" name="Text 14"/>
          <p:cNvSpPr/>
          <p:nvPr/>
        </p:nvSpPr>
        <p:spPr>
          <a:xfrm>
            <a:off x="1508760" y="4087368"/>
            <a:ext cx="4023360" cy="457200"/>
          </a:xfrm>
          <a:prstGeom prst="rect">
            <a:avLst/>
          </a:prstGeom>
          <a:noFill/>
          <a:ln/>
        </p:spPr>
        <p:txBody>
          <a:bodyPr wrap="square" rtlCol="0" anchor="ctr"/>
          <a:lstStyle/>
          <a:p>
            <a:pPr marL="0" indent="0">
              <a:buNone/>
            </a:pPr>
            <a:r>
              <a:rPr lang="en-US" sz="1400" b="1" dirty="0">
                <a:solidFill>
                  <a:srgbClr val="1B2A1B"/>
                </a:solidFill>
                <a:latin typeface="Calibri" pitchFamily="34" charset="0"/>
                <a:ea typeface="Calibri" pitchFamily="34" charset="-122"/>
                <a:cs typeface="Calibri" pitchFamily="34" charset="-120"/>
              </a:rPr>
              <a:t>Total distance</a:t>
            </a:r>
            <a:endParaRPr lang="en-US" sz="1400" dirty="0"/>
          </a:p>
        </p:txBody>
      </p:sp>
      <p:sp>
        <p:nvSpPr>
          <p:cNvPr id="19" name="Shape 15"/>
          <p:cNvSpPr/>
          <p:nvPr/>
        </p:nvSpPr>
        <p:spPr>
          <a:xfrm>
            <a:off x="914400" y="4654296"/>
            <a:ext cx="4800600" cy="457200"/>
          </a:xfrm>
          <a:prstGeom prst="roundRect">
            <a:avLst>
              <a:gd name="adj" fmla="val 16000"/>
            </a:avLst>
          </a:prstGeom>
          <a:solidFill>
            <a:srgbClr val="F5F7F0"/>
          </a:solidFill>
          <a:ln/>
        </p:spPr>
        <p:txBody>
          <a:bodyPr/>
          <a:lstStyle/>
          <a:p>
            <a:endParaRPr lang="en-US"/>
          </a:p>
        </p:txBody>
      </p:sp>
      <p:sp>
        <p:nvSpPr>
          <p:cNvPr id="20" name="Shape 16"/>
          <p:cNvSpPr/>
          <p:nvPr/>
        </p:nvSpPr>
        <p:spPr>
          <a:xfrm>
            <a:off x="1051560" y="4745736"/>
            <a:ext cx="274320" cy="274320"/>
          </a:xfrm>
          <a:prstGeom prst="ellipse">
            <a:avLst/>
          </a:prstGeom>
          <a:solidFill>
            <a:srgbClr val="E8A33D"/>
          </a:solidFill>
          <a:ln/>
        </p:spPr>
        <p:txBody>
          <a:bodyPr/>
          <a:lstStyle/>
          <a:p>
            <a:endParaRPr lang="en-US"/>
          </a:p>
        </p:txBody>
      </p:sp>
      <p:sp>
        <p:nvSpPr>
          <p:cNvPr id="21" name="Text 17"/>
          <p:cNvSpPr/>
          <p:nvPr/>
        </p:nvSpPr>
        <p:spPr>
          <a:xfrm>
            <a:off x="1508760" y="4654296"/>
            <a:ext cx="4023360" cy="457200"/>
          </a:xfrm>
          <a:prstGeom prst="rect">
            <a:avLst/>
          </a:prstGeom>
          <a:noFill/>
          <a:ln/>
        </p:spPr>
        <p:txBody>
          <a:bodyPr wrap="square" rtlCol="0" anchor="ctr"/>
          <a:lstStyle/>
          <a:p>
            <a:pPr marL="0" indent="0">
              <a:buNone/>
            </a:pPr>
            <a:r>
              <a:rPr lang="en-US" sz="1400" b="1" dirty="0">
                <a:solidFill>
                  <a:srgbClr val="1B2A1B"/>
                </a:solidFill>
                <a:latin typeface="Calibri" pitchFamily="34" charset="0"/>
                <a:ea typeface="Calibri" pitchFamily="34" charset="-122"/>
                <a:cs typeface="Calibri" pitchFamily="34" charset="-120"/>
              </a:rPr>
              <a:t>Weekly consistency</a:t>
            </a:r>
            <a:endParaRPr lang="en-US" sz="1400" dirty="0"/>
          </a:p>
        </p:txBody>
      </p:sp>
      <p:sp>
        <p:nvSpPr>
          <p:cNvPr id="22" name="Shape 18"/>
          <p:cNvSpPr/>
          <p:nvPr/>
        </p:nvSpPr>
        <p:spPr>
          <a:xfrm>
            <a:off x="914400" y="5221224"/>
            <a:ext cx="4800600" cy="457200"/>
          </a:xfrm>
          <a:prstGeom prst="roundRect">
            <a:avLst>
              <a:gd name="adj" fmla="val 16000"/>
            </a:avLst>
          </a:prstGeom>
          <a:solidFill>
            <a:srgbClr val="F5F7F0"/>
          </a:solidFill>
          <a:ln/>
        </p:spPr>
        <p:txBody>
          <a:bodyPr/>
          <a:lstStyle/>
          <a:p>
            <a:endParaRPr lang="en-US"/>
          </a:p>
        </p:txBody>
      </p:sp>
      <p:sp>
        <p:nvSpPr>
          <p:cNvPr id="23" name="Shape 19"/>
          <p:cNvSpPr/>
          <p:nvPr/>
        </p:nvSpPr>
        <p:spPr>
          <a:xfrm>
            <a:off x="1051560" y="5312664"/>
            <a:ext cx="274320" cy="274320"/>
          </a:xfrm>
          <a:prstGeom prst="ellipse">
            <a:avLst/>
          </a:prstGeom>
          <a:solidFill>
            <a:srgbClr val="E8A33D"/>
          </a:solidFill>
          <a:ln/>
        </p:spPr>
        <p:txBody>
          <a:bodyPr/>
          <a:lstStyle/>
          <a:p>
            <a:endParaRPr lang="en-US"/>
          </a:p>
        </p:txBody>
      </p:sp>
      <p:sp>
        <p:nvSpPr>
          <p:cNvPr id="24" name="Text 20"/>
          <p:cNvSpPr/>
          <p:nvPr/>
        </p:nvSpPr>
        <p:spPr>
          <a:xfrm>
            <a:off x="1508760" y="5221224"/>
            <a:ext cx="4023360" cy="457200"/>
          </a:xfrm>
          <a:prstGeom prst="rect">
            <a:avLst/>
          </a:prstGeom>
          <a:noFill/>
          <a:ln/>
        </p:spPr>
        <p:txBody>
          <a:bodyPr wrap="square" rtlCol="0" anchor="ctr"/>
          <a:lstStyle/>
          <a:p>
            <a:pPr marL="0" indent="0">
              <a:buNone/>
            </a:pPr>
            <a:r>
              <a:rPr lang="en-US" sz="1400" b="1" dirty="0">
                <a:solidFill>
                  <a:srgbClr val="1B2A1B"/>
                </a:solidFill>
                <a:latin typeface="Calibri" pitchFamily="34" charset="0"/>
                <a:ea typeface="Calibri" pitchFamily="34" charset="-122"/>
                <a:cs typeface="Calibri" pitchFamily="34" charset="-120"/>
              </a:rPr>
              <a:t>Volunteer impact</a:t>
            </a:r>
            <a:endParaRPr lang="en-US" sz="1400" dirty="0"/>
          </a:p>
        </p:txBody>
      </p:sp>
      <p:sp>
        <p:nvSpPr>
          <p:cNvPr id="25" name="Shape 21"/>
          <p:cNvSpPr/>
          <p:nvPr/>
        </p:nvSpPr>
        <p:spPr>
          <a:xfrm>
            <a:off x="6172200" y="1920240"/>
            <a:ext cx="5349240" cy="1280160"/>
          </a:xfrm>
          <a:prstGeom prst="roundRect">
            <a:avLst>
              <a:gd name="adj" fmla="val 7143"/>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26" name="Shape 22"/>
          <p:cNvSpPr/>
          <p:nvPr/>
        </p:nvSpPr>
        <p:spPr>
          <a:xfrm>
            <a:off x="6446520" y="2194560"/>
            <a:ext cx="731520" cy="731520"/>
          </a:xfrm>
          <a:prstGeom prst="ellipse">
            <a:avLst/>
          </a:prstGeom>
          <a:solidFill>
            <a:srgbClr val="2C5F2D"/>
          </a:solidFill>
          <a:ln/>
        </p:spPr>
        <p:txBody>
          <a:bodyPr/>
          <a:lstStyle/>
          <a:p>
            <a:endParaRPr lang="en-US"/>
          </a:p>
        </p:txBody>
      </p:sp>
      <p:pic>
        <p:nvPicPr>
          <p:cNvPr id="27" name="Image 2" descr="preencoded.png"/>
          <p:cNvPicPr>
            <a:picLocks noChangeAspect="1"/>
          </p:cNvPicPr>
          <p:nvPr/>
        </p:nvPicPr>
        <p:blipFill>
          <a:blip r:embed="rId5"/>
          <a:stretch>
            <a:fillRect/>
          </a:stretch>
        </p:blipFill>
        <p:spPr>
          <a:xfrm>
            <a:off x="6636715" y="2384755"/>
            <a:ext cx="351130" cy="351130"/>
          </a:xfrm>
          <a:prstGeom prst="rect">
            <a:avLst/>
          </a:prstGeom>
        </p:spPr>
      </p:pic>
      <p:sp>
        <p:nvSpPr>
          <p:cNvPr id="28" name="Text 23"/>
          <p:cNvSpPr/>
          <p:nvPr/>
        </p:nvSpPr>
        <p:spPr>
          <a:xfrm>
            <a:off x="7406640" y="2103120"/>
            <a:ext cx="3886200" cy="45720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Social feed</a:t>
            </a:r>
            <a:endParaRPr lang="en-US" sz="1600" dirty="0"/>
          </a:p>
        </p:txBody>
      </p:sp>
      <p:sp>
        <p:nvSpPr>
          <p:cNvPr id="29" name="Text 24"/>
          <p:cNvSpPr/>
          <p:nvPr/>
        </p:nvSpPr>
        <p:spPr>
          <a:xfrm>
            <a:off x="7406640" y="2514600"/>
            <a:ext cx="3886200" cy="594360"/>
          </a:xfrm>
          <a:prstGeom prst="rect">
            <a:avLst/>
          </a:prstGeom>
          <a:noFill/>
          <a:ln/>
        </p:spPr>
        <p:txBody>
          <a:bodyPr wrap="square" rtlCol="0" anchor="ctr"/>
          <a:lstStyle/>
          <a:p>
            <a:pPr marL="0" indent="0">
              <a:buNone/>
            </a:pPr>
            <a:r>
              <a:rPr lang="en-US" sz="1300" dirty="0">
                <a:solidFill>
                  <a:srgbClr val="5C6B57"/>
                </a:solidFill>
                <a:latin typeface="Calibri" pitchFamily="34" charset="0"/>
                <a:ea typeface="Calibri" pitchFamily="34" charset="-122"/>
                <a:cs typeface="Calibri" pitchFamily="34" charset="-120"/>
              </a:rPr>
              <a:t>Kudos (likes) + comments on runs &amp; volunteer joins.</a:t>
            </a:r>
            <a:endParaRPr lang="en-US" sz="1300" dirty="0"/>
          </a:p>
        </p:txBody>
      </p:sp>
      <p:sp>
        <p:nvSpPr>
          <p:cNvPr id="30" name="Shape 25"/>
          <p:cNvSpPr/>
          <p:nvPr/>
        </p:nvSpPr>
        <p:spPr>
          <a:xfrm>
            <a:off x="6172200" y="3337560"/>
            <a:ext cx="5349240" cy="1280160"/>
          </a:xfrm>
          <a:prstGeom prst="roundRect">
            <a:avLst>
              <a:gd name="adj" fmla="val 7143"/>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31" name="Shape 26"/>
          <p:cNvSpPr/>
          <p:nvPr/>
        </p:nvSpPr>
        <p:spPr>
          <a:xfrm>
            <a:off x="6446520" y="3611880"/>
            <a:ext cx="731520" cy="731520"/>
          </a:xfrm>
          <a:prstGeom prst="ellipse">
            <a:avLst/>
          </a:prstGeom>
          <a:solidFill>
            <a:srgbClr val="2C5F2D"/>
          </a:solidFill>
          <a:ln/>
        </p:spPr>
        <p:txBody>
          <a:bodyPr/>
          <a:lstStyle/>
          <a:p>
            <a:endParaRPr lang="en-US"/>
          </a:p>
        </p:txBody>
      </p:sp>
      <p:pic>
        <p:nvPicPr>
          <p:cNvPr id="32" name="Image 3" descr="preencoded.png"/>
          <p:cNvPicPr>
            <a:picLocks noChangeAspect="1"/>
          </p:cNvPicPr>
          <p:nvPr/>
        </p:nvPicPr>
        <p:blipFill>
          <a:blip r:embed="rId6"/>
          <a:stretch>
            <a:fillRect/>
          </a:stretch>
        </p:blipFill>
        <p:spPr>
          <a:xfrm>
            <a:off x="6636715" y="3802075"/>
            <a:ext cx="351130" cy="351130"/>
          </a:xfrm>
          <a:prstGeom prst="rect">
            <a:avLst/>
          </a:prstGeom>
        </p:spPr>
      </p:pic>
      <p:sp>
        <p:nvSpPr>
          <p:cNvPr id="33" name="Text 27"/>
          <p:cNvSpPr/>
          <p:nvPr/>
        </p:nvSpPr>
        <p:spPr>
          <a:xfrm>
            <a:off x="7406640" y="3520440"/>
            <a:ext cx="3886200" cy="45720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Volunteer points + staff ladder</a:t>
            </a:r>
            <a:endParaRPr lang="en-US" sz="1600" dirty="0"/>
          </a:p>
        </p:txBody>
      </p:sp>
      <p:sp>
        <p:nvSpPr>
          <p:cNvPr id="34" name="Text 28"/>
          <p:cNvSpPr/>
          <p:nvPr/>
        </p:nvSpPr>
        <p:spPr>
          <a:xfrm>
            <a:off x="7406640" y="3931920"/>
            <a:ext cx="3886200" cy="594360"/>
          </a:xfrm>
          <a:prstGeom prst="rect">
            <a:avLst/>
          </a:prstGeom>
          <a:noFill/>
          <a:ln/>
        </p:spPr>
        <p:txBody>
          <a:bodyPr wrap="square" rtlCol="0" anchor="ctr"/>
          <a:lstStyle/>
          <a:p>
            <a:pPr marL="0" indent="0">
              <a:buNone/>
            </a:pPr>
            <a:r>
              <a:rPr lang="en-US" sz="1300" dirty="0">
                <a:solidFill>
                  <a:srgbClr val="5C6B57"/>
                </a:solidFill>
                <a:latin typeface="Calibri" pitchFamily="34" charset="0"/>
                <a:ea typeface="Calibri" pitchFamily="34" charset="-122"/>
                <a:cs typeface="Calibri" pitchFamily="34" charset="-120"/>
              </a:rPr>
              <a:t>Impact points build toward a staff-eligibility ladder.</a:t>
            </a:r>
            <a:endParaRPr lang="en-US" sz="1300" dirty="0"/>
          </a:p>
        </p:txBody>
      </p:sp>
      <p:sp>
        <p:nvSpPr>
          <p:cNvPr id="35" name="Shape 29"/>
          <p:cNvSpPr/>
          <p:nvPr/>
        </p:nvSpPr>
        <p:spPr>
          <a:xfrm>
            <a:off x="6172200" y="4754880"/>
            <a:ext cx="5349240" cy="1280160"/>
          </a:xfrm>
          <a:prstGeom prst="roundRect">
            <a:avLst>
              <a:gd name="adj" fmla="val 7143"/>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36" name="Shape 30"/>
          <p:cNvSpPr/>
          <p:nvPr/>
        </p:nvSpPr>
        <p:spPr>
          <a:xfrm>
            <a:off x="6446520" y="5029200"/>
            <a:ext cx="731520" cy="731520"/>
          </a:xfrm>
          <a:prstGeom prst="ellipse">
            <a:avLst/>
          </a:prstGeom>
          <a:solidFill>
            <a:srgbClr val="2C5F2D"/>
          </a:solidFill>
          <a:ln/>
        </p:spPr>
        <p:txBody>
          <a:bodyPr/>
          <a:lstStyle/>
          <a:p>
            <a:endParaRPr lang="en-US"/>
          </a:p>
        </p:txBody>
      </p:sp>
      <p:pic>
        <p:nvPicPr>
          <p:cNvPr id="37" name="Image 4" descr="preencoded.png"/>
          <p:cNvPicPr>
            <a:picLocks noChangeAspect="1"/>
          </p:cNvPicPr>
          <p:nvPr/>
        </p:nvPicPr>
        <p:blipFill>
          <a:blip r:embed="rId4"/>
          <a:stretch>
            <a:fillRect/>
          </a:stretch>
        </p:blipFill>
        <p:spPr>
          <a:xfrm>
            <a:off x="6636715" y="5219395"/>
            <a:ext cx="351130" cy="351130"/>
          </a:xfrm>
          <a:prstGeom prst="rect">
            <a:avLst/>
          </a:prstGeom>
        </p:spPr>
      </p:pic>
      <p:sp>
        <p:nvSpPr>
          <p:cNvPr id="38" name="Text 31"/>
          <p:cNvSpPr/>
          <p:nvPr/>
        </p:nvSpPr>
        <p:spPr>
          <a:xfrm>
            <a:off x="7406640" y="4937760"/>
            <a:ext cx="3886200" cy="45720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Achievements + weekly goals</a:t>
            </a:r>
            <a:endParaRPr lang="en-US" sz="1600" dirty="0"/>
          </a:p>
        </p:txBody>
      </p:sp>
      <p:sp>
        <p:nvSpPr>
          <p:cNvPr id="39" name="Text 32"/>
          <p:cNvSpPr/>
          <p:nvPr/>
        </p:nvSpPr>
        <p:spPr>
          <a:xfrm>
            <a:off x="7406640" y="5349240"/>
            <a:ext cx="3886200" cy="594360"/>
          </a:xfrm>
          <a:prstGeom prst="rect">
            <a:avLst/>
          </a:prstGeom>
          <a:noFill/>
          <a:ln/>
        </p:spPr>
        <p:txBody>
          <a:bodyPr wrap="square" rtlCol="0" anchor="ctr"/>
          <a:lstStyle/>
          <a:p>
            <a:pPr marL="0" indent="0">
              <a:buNone/>
            </a:pPr>
            <a:r>
              <a:rPr lang="en-US" sz="1300" dirty="0">
                <a:solidFill>
                  <a:srgbClr val="5C6B57"/>
                </a:solidFill>
                <a:latin typeface="Calibri" pitchFamily="34" charset="0"/>
                <a:ea typeface="Calibri" pitchFamily="34" charset="-122"/>
                <a:cs typeface="Calibri" pitchFamily="34" charset="-120"/>
              </a:rPr>
              <a:t>Sub-5 pace, century month, streaks, eco-runner, trusted staff · weekly distance goal.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0"/>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731520"/>
          </a:xfrm>
          <a:prstGeom prst="rect">
            <a:avLst/>
          </a:prstGeom>
          <a:noFill/>
          <a:ln/>
        </p:spPr>
        <p:txBody>
          <a:bodyPr wrap="square" rtlCol="0" anchor="ctr"/>
          <a:lstStyle/>
          <a:p>
            <a:pPr marL="0" indent="0">
              <a:buNone/>
            </a:pPr>
            <a:r>
              <a:rPr lang="en-US" sz="3400" b="1" dirty="0">
                <a:solidFill>
                  <a:srgbClr val="2C5F2D"/>
                </a:solidFill>
                <a:latin typeface="Bookman Old Style" pitchFamily="34" charset="0"/>
                <a:ea typeface="Bookman Old Style" pitchFamily="34" charset="-122"/>
                <a:cs typeface="Bookman Old Style" pitchFamily="34" charset="-120"/>
              </a:rPr>
              <a:t>Monetization &amp; highlights</a:t>
            </a:r>
            <a:endParaRPr lang="en-US" sz="3400" dirty="0"/>
          </a:p>
        </p:txBody>
      </p:sp>
      <p:sp>
        <p:nvSpPr>
          <p:cNvPr id="3" name="Shape 1"/>
          <p:cNvSpPr/>
          <p:nvPr/>
        </p:nvSpPr>
        <p:spPr>
          <a:xfrm>
            <a:off x="9921240" y="502920"/>
            <a:ext cx="1600200" cy="548640"/>
          </a:xfrm>
          <a:prstGeom prst="roundRect">
            <a:avLst>
              <a:gd name="adj" fmla="val 48333"/>
            </a:avLst>
          </a:prstGeom>
          <a:solidFill>
            <a:srgbClr val="E8A33D"/>
          </a:solidFill>
          <a:ln/>
        </p:spPr>
        <p:txBody>
          <a:bodyPr/>
          <a:lstStyle/>
          <a:p>
            <a:endParaRPr lang="en-US"/>
          </a:p>
        </p:txBody>
      </p:sp>
      <p:sp>
        <p:nvSpPr>
          <p:cNvPr id="4" name="Text 2"/>
          <p:cNvSpPr/>
          <p:nvPr/>
        </p:nvSpPr>
        <p:spPr>
          <a:xfrm>
            <a:off x="9921240" y="502920"/>
            <a:ext cx="1600200" cy="548640"/>
          </a:xfrm>
          <a:prstGeom prst="rect">
            <a:avLst/>
          </a:prstGeom>
          <a:noFill/>
          <a:ln/>
        </p:spPr>
        <p:txBody>
          <a:bodyPr wrap="square" rtlCol="0" anchor="ctr"/>
          <a:lstStyle/>
          <a:p>
            <a:pPr marL="0" indent="0" algn="ctr">
              <a:buNone/>
            </a:pPr>
            <a:r>
              <a:rPr lang="en-US" sz="1600" b="1" dirty="0">
                <a:solidFill>
                  <a:srgbClr val="1C3D1D"/>
                </a:solidFill>
                <a:latin typeface="Calibri" pitchFamily="34" charset="0"/>
                <a:ea typeface="Calibri" pitchFamily="34" charset="-122"/>
                <a:cs typeface="Calibri" pitchFamily="34" charset="-120"/>
              </a:rPr>
              <a:t>(g) (h)</a:t>
            </a:r>
            <a:endParaRPr lang="en-US" sz="1600" dirty="0"/>
          </a:p>
        </p:txBody>
      </p:sp>
      <p:sp>
        <p:nvSpPr>
          <p:cNvPr id="5" name="Shape 3"/>
          <p:cNvSpPr/>
          <p:nvPr/>
        </p:nvSpPr>
        <p:spPr>
          <a:xfrm>
            <a:off x="640080" y="1417320"/>
            <a:ext cx="5349240" cy="2788920"/>
          </a:xfrm>
          <a:prstGeom prst="roundRect">
            <a:avLst>
              <a:gd name="adj" fmla="val 3279"/>
            </a:avLst>
          </a:prstGeom>
          <a:solidFill>
            <a:srgbClr val="1C3D1D"/>
          </a:solidFill>
          <a:ln/>
          <a:effectLst>
            <a:outerShdw blurRad="101600" dist="38100" dir="5400000" algn="bl" rotWithShape="0">
              <a:srgbClr val="000000">
                <a:alpha val="12000"/>
              </a:srgbClr>
            </a:outerShdw>
          </a:effectLst>
        </p:spPr>
        <p:txBody>
          <a:bodyPr/>
          <a:lstStyle/>
          <a:p>
            <a:endParaRPr lang="en-US"/>
          </a:p>
        </p:txBody>
      </p:sp>
      <p:sp>
        <p:nvSpPr>
          <p:cNvPr id="6" name="Shape 4"/>
          <p:cNvSpPr/>
          <p:nvPr/>
        </p:nvSpPr>
        <p:spPr>
          <a:xfrm>
            <a:off x="914400" y="1691640"/>
            <a:ext cx="731520" cy="731520"/>
          </a:xfrm>
          <a:prstGeom prst="ellipse">
            <a:avLst/>
          </a:prstGeom>
          <a:solidFill>
            <a:srgbClr val="E8A33D"/>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04595" y="1881835"/>
            <a:ext cx="351130" cy="351130"/>
          </a:xfrm>
          <a:prstGeom prst="rect">
            <a:avLst/>
          </a:prstGeom>
        </p:spPr>
      </p:pic>
      <p:sp>
        <p:nvSpPr>
          <p:cNvPr id="8" name="Text 5"/>
          <p:cNvSpPr/>
          <p:nvPr/>
        </p:nvSpPr>
        <p:spPr>
          <a:xfrm>
            <a:off x="1828800" y="1737360"/>
            <a:ext cx="4023360" cy="6400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Monetization — foundation in place</a:t>
            </a:r>
            <a:endParaRPr lang="en-US" sz="1600" dirty="0"/>
          </a:p>
        </p:txBody>
      </p:sp>
      <p:sp>
        <p:nvSpPr>
          <p:cNvPr id="9" name="Text 6"/>
          <p:cNvSpPr/>
          <p:nvPr/>
        </p:nvSpPr>
        <p:spPr>
          <a:xfrm>
            <a:off x="1005840" y="2651760"/>
            <a:ext cx="4846320" cy="1463040"/>
          </a:xfrm>
          <a:prstGeom prst="rect">
            <a:avLst/>
          </a:prstGeom>
          <a:noFill/>
          <a:ln/>
        </p:spPr>
        <p:txBody>
          <a:bodyPr wrap="square" rtlCol="0" anchor="ctr"/>
          <a:lstStyle/>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PARTNER role + partner-verified events</a:t>
            </a:r>
            <a:endParaRPr lang="en-US" sz="1350" dirty="0"/>
          </a:p>
          <a:p>
            <a:pPr marL="342900" indent="-342900">
              <a:spcAft>
                <a:spcPts val="700"/>
              </a:spcAft>
              <a:buSzPct val="100000"/>
              <a:buChar char="•"/>
            </a:pPr>
            <a:r>
              <a:rPr lang="en-US" sz="1350" dirty="0">
                <a:solidFill>
                  <a:srgbClr val="C9DCA3"/>
                </a:solidFill>
                <a:latin typeface="Calibri" pitchFamily="34" charset="0"/>
                <a:ea typeface="Calibri" pitchFamily="34" charset="-122"/>
                <a:cs typeface="Calibri" pitchFamily="34" charset="-120"/>
              </a:rPr>
              <a:t>→ path to sponsored / NGO events</a:t>
            </a:r>
            <a:endParaRPr lang="en-US" sz="1350" dirty="0"/>
          </a:p>
          <a:p>
            <a:pPr marL="342900" indent="-342900">
              <a:spcAft>
                <a:spcPts val="700"/>
              </a:spcAft>
              <a:buSzPct val="100000"/>
              <a:buChar char="•"/>
            </a:pPr>
            <a:r>
              <a:rPr lang="en-US" sz="1350" dirty="0">
                <a:solidFill>
                  <a:srgbClr val="C9DCA3"/>
                </a:solidFill>
                <a:latin typeface="Calibri" pitchFamily="34" charset="0"/>
                <a:ea typeface="Calibri" pitchFamily="34" charset="-122"/>
                <a:cs typeface="Calibri" pitchFamily="34" charset="-120"/>
              </a:rPr>
              <a:t>→ premium clan features</a:t>
            </a:r>
            <a:endParaRPr lang="en-US" sz="1350" dirty="0"/>
          </a:p>
          <a:p>
            <a:pPr marL="342900" indent="-342900">
              <a:spcAft>
                <a:spcPts val="700"/>
              </a:spcAft>
              <a:buSzPct val="100000"/>
              <a:buChar char="•"/>
            </a:pPr>
            <a:r>
              <a:rPr lang="en-US" sz="1350" dirty="0">
                <a:solidFill>
                  <a:srgbClr val="E8A33D"/>
                </a:solidFill>
                <a:latin typeface="Calibri" pitchFamily="34" charset="0"/>
                <a:ea typeface="Calibri" pitchFamily="34" charset="-122"/>
                <a:cs typeface="Calibri" pitchFamily="34" charset="-120"/>
              </a:rPr>
              <a:t>Payments: planned, not yet built</a:t>
            </a:r>
            <a:endParaRPr lang="en-US" sz="1350" dirty="0"/>
          </a:p>
        </p:txBody>
      </p:sp>
      <p:sp>
        <p:nvSpPr>
          <p:cNvPr id="10" name="Shape 7"/>
          <p:cNvSpPr/>
          <p:nvPr/>
        </p:nvSpPr>
        <p:spPr>
          <a:xfrm>
            <a:off x="6172200" y="1417320"/>
            <a:ext cx="5349240" cy="2788920"/>
          </a:xfrm>
          <a:prstGeom prst="roundRect">
            <a:avLst>
              <a:gd name="adj" fmla="val 3279"/>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1" name="Shape 8"/>
          <p:cNvSpPr/>
          <p:nvPr/>
        </p:nvSpPr>
        <p:spPr>
          <a:xfrm>
            <a:off x="6446520" y="1691640"/>
            <a:ext cx="731520" cy="731520"/>
          </a:xfrm>
          <a:prstGeom prst="ellipse">
            <a:avLst/>
          </a:prstGeom>
          <a:solidFill>
            <a:srgbClr val="2C5F2D"/>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636715" y="1881835"/>
            <a:ext cx="351130" cy="351130"/>
          </a:xfrm>
          <a:prstGeom prst="rect">
            <a:avLst/>
          </a:prstGeom>
        </p:spPr>
      </p:pic>
      <p:sp>
        <p:nvSpPr>
          <p:cNvPr id="13" name="Text 9"/>
          <p:cNvSpPr/>
          <p:nvPr/>
        </p:nvSpPr>
        <p:spPr>
          <a:xfrm>
            <a:off x="7360920" y="1737360"/>
            <a:ext cx="4023360" cy="640080"/>
          </a:xfrm>
          <a:prstGeom prst="rect">
            <a:avLst/>
          </a:prstGeom>
          <a:noFill/>
          <a:ln/>
        </p:spPr>
        <p:txBody>
          <a:bodyPr wrap="square" rtlCol="0" anchor="ctr"/>
          <a:lstStyle/>
          <a:p>
            <a:pPr marL="0" indent="0">
              <a:buNone/>
            </a:pPr>
            <a:r>
              <a:rPr lang="en-US" sz="1800" b="1" dirty="0">
                <a:solidFill>
                  <a:srgbClr val="2C5F2D"/>
                </a:solidFill>
                <a:latin typeface="Calibri" pitchFamily="34" charset="0"/>
                <a:ea typeface="Calibri" pitchFamily="34" charset="-122"/>
                <a:cs typeface="Calibri" pitchFamily="34" charset="-120"/>
              </a:rPr>
              <a:t>Highlights</a:t>
            </a:r>
            <a:endParaRPr lang="en-US" sz="1800" dirty="0"/>
          </a:p>
        </p:txBody>
      </p:sp>
      <p:sp>
        <p:nvSpPr>
          <p:cNvPr id="14" name="Text 10"/>
          <p:cNvSpPr/>
          <p:nvPr/>
        </p:nvSpPr>
        <p:spPr>
          <a:xfrm>
            <a:off x="6537960" y="2651760"/>
            <a:ext cx="4846320" cy="1463040"/>
          </a:xfrm>
          <a:prstGeom prst="rect">
            <a:avLst/>
          </a:prstGeom>
          <a:noFill/>
          <a:ln/>
        </p:spPr>
        <p:txBody>
          <a:bodyPr wrap="square" rtlCol="0" anchor="ctr"/>
          <a:lstStyle/>
          <a:p>
            <a:pPr marL="342900" indent="-342900">
              <a:spcAft>
                <a:spcPts val="900"/>
              </a:spcAft>
              <a:buSzPct val="100000"/>
              <a:buChar char="•"/>
            </a:pPr>
            <a:r>
              <a:rPr lang="en-US" sz="1450" dirty="0">
                <a:solidFill>
                  <a:srgbClr val="1B2A1B"/>
                </a:solidFill>
                <a:latin typeface="Calibri" pitchFamily="34" charset="0"/>
                <a:ea typeface="Calibri" pitchFamily="34" charset="-122"/>
                <a:cs typeface="Calibri" pitchFamily="34" charset="-120"/>
              </a:rPr>
              <a:t>End-to-end activity approval workflow, live</a:t>
            </a:r>
            <a:endParaRPr lang="en-US" sz="1450" dirty="0"/>
          </a:p>
          <a:p>
            <a:pPr marL="342900" indent="-342900">
              <a:spcAft>
                <a:spcPts val="900"/>
              </a:spcAft>
              <a:buSzPct val="100000"/>
              <a:buChar char="•"/>
            </a:pPr>
            <a:r>
              <a:rPr lang="en-US" sz="1450" dirty="0">
                <a:solidFill>
                  <a:srgbClr val="1B2A1B"/>
                </a:solidFill>
                <a:latin typeface="Calibri" pitchFamily="34" charset="0"/>
                <a:ea typeface="Calibri" pitchFamily="34" charset="-122"/>
                <a:cs typeface="Calibri" pitchFamily="34" charset="-120"/>
              </a:rPr>
              <a:t>Fully cloud-deployed (web + API + datastore + secrets)</a:t>
            </a:r>
            <a:endParaRPr lang="en-US" sz="1450" dirty="0"/>
          </a:p>
          <a:p>
            <a:pPr marL="342900" indent="-342900">
              <a:spcAft>
                <a:spcPts val="900"/>
              </a:spcAft>
              <a:buSzPct val="100000"/>
              <a:buChar char="•"/>
            </a:pPr>
            <a:r>
              <a:rPr lang="en-US" sz="1450" dirty="0">
                <a:solidFill>
                  <a:srgbClr val="1B2A1B"/>
                </a:solidFill>
                <a:latin typeface="Calibri" pitchFamily="34" charset="0"/>
                <a:ea typeface="Calibri" pitchFamily="34" charset="-122"/>
                <a:cs typeface="Calibri" pitchFamily="34" charset="-120"/>
              </a:rPr>
              <a:t>Web + mobile parity on one backend</a:t>
            </a:r>
            <a:endParaRPr lang="en-US" sz="1450" dirty="0"/>
          </a:p>
        </p:txBody>
      </p:sp>
      <p:sp>
        <p:nvSpPr>
          <p:cNvPr id="15" name="Shape 11"/>
          <p:cNvSpPr/>
          <p:nvPr/>
        </p:nvSpPr>
        <p:spPr>
          <a:xfrm>
            <a:off x="640080" y="4572000"/>
            <a:ext cx="10881360" cy="1463040"/>
          </a:xfrm>
          <a:prstGeom prst="roundRect">
            <a:avLst>
              <a:gd name="adj" fmla="val 6250"/>
            </a:avLst>
          </a:prstGeom>
          <a:solidFill>
            <a:srgbClr val="97BC62"/>
          </a:solidFill>
          <a:ln/>
        </p:spPr>
        <p:txBody>
          <a:bodyPr/>
          <a:lstStyle/>
          <a:p>
            <a:endParaRPr lang="en-US"/>
          </a:p>
        </p:txBody>
      </p:sp>
      <p:sp>
        <p:nvSpPr>
          <p:cNvPr id="16" name="Shape 12"/>
          <p:cNvSpPr/>
          <p:nvPr/>
        </p:nvSpPr>
        <p:spPr>
          <a:xfrm>
            <a:off x="914400" y="4937760"/>
            <a:ext cx="731520" cy="731520"/>
          </a:xfrm>
          <a:prstGeom prst="ellipse">
            <a:avLst/>
          </a:prstGeom>
          <a:solidFill>
            <a:srgbClr val="2C5F2D"/>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1104595" y="5127955"/>
            <a:ext cx="351130" cy="351130"/>
          </a:xfrm>
          <a:prstGeom prst="rect">
            <a:avLst/>
          </a:prstGeom>
        </p:spPr>
      </p:pic>
      <p:sp>
        <p:nvSpPr>
          <p:cNvPr id="18" name="Text 13"/>
          <p:cNvSpPr/>
          <p:nvPr/>
        </p:nvSpPr>
        <p:spPr>
          <a:xfrm>
            <a:off x="1920240" y="4572000"/>
            <a:ext cx="9326880" cy="1463040"/>
          </a:xfrm>
          <a:prstGeom prst="rect">
            <a:avLst/>
          </a:prstGeom>
          <a:noFill/>
          <a:ln/>
        </p:spPr>
        <p:txBody>
          <a:bodyPr wrap="square" rtlCol="0" anchor="ctr"/>
          <a:lstStyle/>
          <a:p>
            <a:pPr marL="0" indent="0">
              <a:spcAft>
                <a:spcPts val="500"/>
              </a:spcAft>
              <a:buNone/>
            </a:pPr>
            <a:r>
              <a:rPr lang="en-US" sz="1800" b="1" dirty="0">
                <a:solidFill>
                  <a:srgbClr val="1C3D1D"/>
                </a:solidFill>
                <a:latin typeface="Calibri" pitchFamily="34" charset="0"/>
                <a:ea typeface="Calibri" pitchFamily="34" charset="-122"/>
                <a:cs typeface="Calibri" pitchFamily="34" charset="-120"/>
              </a:rPr>
              <a:t>Next up</a:t>
            </a:r>
            <a:endParaRPr lang="en-US" sz="1800" dirty="0"/>
          </a:p>
          <a:p>
            <a:pPr marL="0" indent="0">
              <a:spcAft>
                <a:spcPts val="500"/>
              </a:spcAft>
              <a:buNone/>
            </a:pPr>
            <a:r>
              <a:rPr lang="en-US" sz="1600" dirty="0">
                <a:solidFill>
                  <a:srgbClr val="1C3D1D"/>
                </a:solidFill>
                <a:latin typeface="Calibri" pitchFamily="34" charset="0"/>
                <a:ea typeface="Calibri" pitchFamily="34" charset="-122"/>
                <a:cs typeface="Calibri" pitchFamily="34" charset="-120"/>
              </a:rPr>
              <a:t>Mobile GPS run-logging  ·  payments  ·  push notifications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3D1D"/>
        </a:solidFill>
        <a:effectLst/>
      </p:bgPr>
    </p:bg>
    <p:spTree>
      <p:nvGrpSpPr>
        <p:cNvPr id="1" name=""/>
        <p:cNvGrpSpPr/>
        <p:nvPr/>
      </p:nvGrpSpPr>
      <p:grpSpPr>
        <a:xfrm>
          <a:off x="0" y="0"/>
          <a:ext cx="0" cy="0"/>
          <a:chOff x="0" y="0"/>
          <a:chExt cx="0" cy="0"/>
        </a:xfrm>
      </p:grpSpPr>
      <p:sp>
        <p:nvSpPr>
          <p:cNvPr id="2" name="Shape 0"/>
          <p:cNvSpPr/>
          <p:nvPr/>
        </p:nvSpPr>
        <p:spPr>
          <a:xfrm>
            <a:off x="-1280160" y="4206240"/>
            <a:ext cx="4023360" cy="4023360"/>
          </a:xfrm>
          <a:prstGeom prst="ellipse">
            <a:avLst/>
          </a:prstGeom>
          <a:solidFill>
            <a:srgbClr val="2C5F2D"/>
          </a:solidFill>
          <a:ln/>
        </p:spPr>
        <p:txBody>
          <a:bodyPr/>
          <a:lstStyle/>
          <a:p>
            <a:endParaRPr lang="en-US"/>
          </a:p>
        </p:txBody>
      </p:sp>
      <p:sp>
        <p:nvSpPr>
          <p:cNvPr id="3" name="Shape 1"/>
          <p:cNvSpPr/>
          <p:nvPr/>
        </p:nvSpPr>
        <p:spPr>
          <a:xfrm>
            <a:off x="10424160" y="-1371600"/>
            <a:ext cx="3474720" cy="3474720"/>
          </a:xfrm>
          <a:prstGeom prst="ellipse">
            <a:avLst/>
          </a:prstGeom>
          <a:solidFill>
            <a:srgbClr val="97BC62">
              <a:alpha val="35000"/>
            </a:srgbClr>
          </a:solidFill>
          <a:ln/>
        </p:spPr>
        <p:txBody>
          <a:bodyPr/>
          <a:lstStyle/>
          <a:p>
            <a:endParaRPr lang="en-US"/>
          </a:p>
        </p:txBody>
      </p:sp>
      <p:sp>
        <p:nvSpPr>
          <p:cNvPr id="4" name="Shape 2"/>
          <p:cNvSpPr/>
          <p:nvPr/>
        </p:nvSpPr>
        <p:spPr>
          <a:xfrm>
            <a:off x="5440680" y="1188720"/>
            <a:ext cx="1280160" cy="1280160"/>
          </a:xfrm>
          <a:prstGeom prst="ellipse">
            <a:avLst/>
          </a:prstGeom>
          <a:solidFill>
            <a:srgbClr val="FFFFFF"/>
          </a:solidFill>
          <a:ln>
            <a:noFill/>
          </a:ln>
        </p:spPr>
        <p:txBody>
          <a:bodyPr/>
          <a:lstStyle/>
          <a:p>
            <a:endParaRPr lang="en-US"/>
          </a:p>
        </p:txBody>
      </p:sp>
      <p:sp>
        <p:nvSpPr>
          <p:cNvPr id="6" name="Text 3"/>
          <p:cNvSpPr/>
          <p:nvPr/>
        </p:nvSpPr>
        <p:spPr>
          <a:xfrm>
            <a:off x="1371600" y="2743200"/>
            <a:ext cx="9418320" cy="1188720"/>
          </a:xfrm>
          <a:prstGeom prst="rect">
            <a:avLst/>
          </a:prstGeom>
          <a:noFill/>
          <a:ln/>
        </p:spPr>
        <p:txBody>
          <a:bodyPr wrap="square" rtlCol="0" anchor="ctr"/>
          <a:lstStyle/>
          <a:p>
            <a:pPr marL="0" indent="0" algn="ctr">
              <a:buNone/>
            </a:pPr>
            <a:r>
              <a:rPr lang="en-US" sz="3600" b="1" dirty="0">
                <a:solidFill>
                  <a:srgbClr val="FFFFFF"/>
                </a:solidFill>
                <a:latin typeface="Bookman Old Style" pitchFamily="34" charset="0"/>
                <a:ea typeface="Bookman Old Style" pitchFamily="34" charset="-122"/>
                <a:cs typeface="Bookman Old Style" pitchFamily="34" charset="-120"/>
              </a:rPr>
              <a:t>Tribo is live, full-stack, and cloud-deployed today.</a:t>
            </a:r>
            <a:endParaRPr lang="en-US" sz="3600" dirty="0"/>
          </a:p>
        </p:txBody>
      </p:sp>
      <p:sp>
        <p:nvSpPr>
          <p:cNvPr id="7" name="Shape 4"/>
          <p:cNvSpPr/>
          <p:nvPr/>
        </p:nvSpPr>
        <p:spPr>
          <a:xfrm>
            <a:off x="3794760" y="4114800"/>
            <a:ext cx="4572000" cy="640080"/>
          </a:xfrm>
          <a:prstGeom prst="roundRect">
            <a:avLst>
              <a:gd name="adj" fmla="val 50000"/>
            </a:avLst>
          </a:prstGeom>
          <a:solidFill>
            <a:srgbClr val="E8A33D"/>
          </a:solidFill>
          <a:ln/>
        </p:spPr>
        <p:txBody>
          <a:bodyPr/>
          <a:lstStyle/>
          <a:p>
            <a:endParaRPr lang="en-US"/>
          </a:p>
        </p:txBody>
      </p:sp>
      <p:sp>
        <p:nvSpPr>
          <p:cNvPr id="8" name="Text 5"/>
          <p:cNvSpPr/>
          <p:nvPr/>
        </p:nvSpPr>
        <p:spPr>
          <a:xfrm>
            <a:off x="3794760" y="4114800"/>
            <a:ext cx="4572000" cy="640080"/>
          </a:xfrm>
          <a:prstGeom prst="rect">
            <a:avLst/>
          </a:prstGeom>
          <a:noFill/>
          <a:ln/>
        </p:spPr>
        <p:txBody>
          <a:bodyPr wrap="square" rtlCol="0" anchor="ctr"/>
          <a:lstStyle/>
          <a:p>
            <a:pPr marL="0" indent="0" algn="ctr">
              <a:buNone/>
            </a:pPr>
            <a:r>
              <a:rPr lang="en-US" sz="1600" b="1" dirty="0">
                <a:solidFill>
                  <a:srgbClr val="1C3D1D"/>
                </a:solidFill>
                <a:latin typeface="Calibri" pitchFamily="34" charset="0"/>
                <a:ea typeface="Calibri" pitchFamily="34" charset="-122"/>
                <a:cs typeface="Calibri" pitchFamily="34" charset="-120"/>
              </a:rPr>
              <a:t>Come to our LAB slot — Lab 116</a:t>
            </a:r>
            <a:endParaRPr lang="en-US" sz="1600" dirty="0"/>
          </a:p>
        </p:txBody>
      </p:sp>
      <p:sp>
        <p:nvSpPr>
          <p:cNvPr id="9" name="Text 6"/>
          <p:cNvSpPr/>
          <p:nvPr/>
        </p:nvSpPr>
        <p:spPr>
          <a:xfrm>
            <a:off x="1371600" y="5212080"/>
            <a:ext cx="9418320" cy="548640"/>
          </a:xfrm>
          <a:prstGeom prst="rect">
            <a:avLst/>
          </a:prstGeom>
          <a:noFill/>
          <a:ln/>
        </p:spPr>
        <p:txBody>
          <a:bodyPr wrap="square" rtlCol="0" anchor="ctr"/>
          <a:lstStyle/>
          <a:p>
            <a:pPr marL="0" indent="0" algn="ctr">
              <a:buNone/>
            </a:pPr>
            <a:r>
              <a:rPr lang="en-US" sz="2000" i="1" dirty="0">
                <a:solidFill>
                  <a:srgbClr val="C9DCA3"/>
                </a:solidFill>
                <a:latin typeface="Calibri" pitchFamily="34" charset="0"/>
                <a:ea typeface="Calibri" pitchFamily="34" charset="-122"/>
                <a:cs typeface="Calibri" pitchFamily="34" charset="-120"/>
              </a:rPr>
              <a:t>Run together. Compete together. Make impact.</a:t>
            </a:r>
            <a:endParaRPr lang="en-US" sz="2000" dirty="0"/>
          </a:p>
        </p:txBody>
      </p:sp>
      <p:pic>
        <p:nvPicPr>
          <p:cNvPr id="10" name="Picture 9" descr="TriboLogo_NoBackground.png"/>
          <p:cNvPicPr>
            <a:picLocks noChangeAspect="1"/>
          </p:cNvPicPr>
          <p:nvPr/>
        </p:nvPicPr>
        <p:blipFill>
          <a:blip r:embed="rId3"/>
          <a:stretch>
            <a:fillRect/>
          </a:stretch>
        </p:blipFill>
        <p:spPr>
          <a:xfrm>
            <a:off x="5646420" y="1355115"/>
            <a:ext cx="868680" cy="9473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1519</Words>
  <Application>Microsoft Office PowerPoint</Application>
  <PresentationFormat>Widescreen</PresentationFormat>
  <Paragraphs>154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Tribo — BETA Presentation</dc:title>
  <dc:subject>PptxGenJS Presentation</dc:subject>
  <dc:creator>Tribo Team</dc:creator>
  <cp:lastModifiedBy>Andre Rodrigues Infante da Camara</cp:lastModifiedBy>
  <cp:revision>2</cp:revision>
  <dcterms:created xsi:type="dcterms:W3CDTF">2026-06-22T15:53:38Z</dcterms:created>
  <dcterms:modified xsi:type="dcterms:W3CDTF">2026-06-22T16:13:34Z</dcterms:modified>
</cp:coreProperties>
</file>